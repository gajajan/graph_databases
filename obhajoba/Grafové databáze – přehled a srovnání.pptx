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8" r:id="rId2"/>
    <p:sldId id="259" r:id="rId3"/>
    <p:sldId id="271" r:id="rId4"/>
    <p:sldId id="262" r:id="rId5"/>
    <p:sldId id="263" r:id="rId6"/>
    <p:sldId id="264" r:id="rId7"/>
    <p:sldId id="265" r:id="rId8"/>
    <p:sldId id="266" r:id="rId9"/>
    <p:sldId id="267" r:id="rId10"/>
    <p:sldId id="270" r:id="rId11"/>
    <p:sldId id="268" r:id="rId12"/>
    <p:sldId id="269" r:id="rId13"/>
    <p:sldId id="260" r:id="rId14"/>
  </p:sldIdLst>
  <p:sldSz cx="8999538" cy="6840538"/>
  <p:notesSz cx="6858000" cy="9144000"/>
  <p:defaultTextStyle>
    <a:defPPr>
      <a:defRPr lang="cs-CZ"/>
    </a:defPPr>
    <a:lvl1pPr marL="0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1pPr>
    <a:lvl2pPr marL="452537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2pPr>
    <a:lvl3pPr marL="905073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3pPr>
    <a:lvl4pPr marL="1357610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4pPr>
    <a:lvl5pPr marL="1810146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5pPr>
    <a:lvl6pPr marL="2262683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6pPr>
    <a:lvl7pPr marL="2715219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7pPr>
    <a:lvl8pPr marL="3167756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8pPr>
    <a:lvl9pPr marL="3620292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>
          <p15:clr>
            <a:srgbClr val="A4A3A4"/>
          </p15:clr>
        </p15:guide>
        <p15:guide id="2" pos="28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1D1D"/>
    <a:srgbClr val="6F9CE3"/>
    <a:srgbClr val="9E1D1D"/>
    <a:srgbClr val="1B3046"/>
    <a:srgbClr val="8ABB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824" y="102"/>
      </p:cViewPr>
      <p:guideLst>
        <p:guide orient="horz" pos="2154"/>
        <p:guide pos="28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DC1901-92BB-4FDD-BA03-8B5D36861ACA}" type="datetimeFigureOut">
              <a:rPr lang="cs-CZ" smtClean="0"/>
              <a:t>19.03.2024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98588" y="1143000"/>
            <a:ext cx="40608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EE4EC-FC1D-4A5C-A5BA-DA124659C1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4033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1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872312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96313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8117B-9F64-B32F-4CD3-69A984F35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EBFA741B-6EA8-1CC0-3790-AE6E478B4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3B09810F-1DC1-F9CD-469B-5396A3931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2180AB7-71EA-2BD0-CFD3-DDA8FE917A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24342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E7A97-1382-2193-0940-1CAE3CAC5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070E9CB1-76A3-5D46-427A-E63CE4364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BBA6E318-2EA6-F55A-E564-B3233F546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127B4BD-6F74-05C2-E8BF-A075CF7780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50589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A9324-426B-7714-561A-E04EC4749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2C36F798-87E5-68DC-85E4-1B29983B8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9468B9FD-075F-ABBF-8D91-E7DE5610D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7CFD7A1-45B8-031E-074F-62272510B7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1532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67CD6-E8D4-BEAA-946E-75AA87D5F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0712957C-0340-A2CB-7D8E-68127C841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192ABDDF-731A-A44D-4518-C9B133C80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61D308D-B3DB-F013-E5D4-905D16FC75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23172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6802C-AFB7-5105-4DC6-D1D015FCD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A894403F-301A-0910-9D01-36B5D6851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E2B759BD-D620-7FE4-50D9-49D7BE8FE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2F6C6FD-971B-F47A-0FA2-093D98C9CC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488861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Pro přehlednost některé vlastnosti vynechány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3115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25431-BE6D-204D-91A6-6CE0466E6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9926E129-3BBA-27E7-927B-ABB33D9A5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FE1C7208-F38A-E574-A878-C4DF238CC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CD683B6-9BFF-C36D-32AE-461563E117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896989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06907-2D51-CCF4-8B9B-2D50FC718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F7C0F50A-D6B6-FB62-21E8-3A94EB939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036B4BD9-3BFE-174D-6324-21B7F89D7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EAE2BFE-1A93-5A5B-4C88-8BEF837215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8750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80000" y="6450675"/>
            <a:ext cx="6840000" cy="216000"/>
          </a:xfrm>
        </p:spPr>
        <p:txBody>
          <a:bodyPr/>
          <a:lstStyle/>
          <a:p>
            <a:pPr algn="ctr"/>
            <a:r>
              <a:rPr lang="cs-CZ" dirty="0"/>
              <a:t>autor prezentace, datum prezentace, univerzitní oddělení, fakulta, adresa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699" y="2904775"/>
            <a:ext cx="3342139" cy="103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70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00" y="1980001"/>
            <a:ext cx="7560000" cy="1612866"/>
          </a:xfrm>
        </p:spPr>
        <p:txBody>
          <a:bodyPr anchor="t">
            <a:normAutofit/>
          </a:bodyPr>
          <a:lstStyle>
            <a:lvl1pPr algn="l"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0000" y="3592866"/>
            <a:ext cx="7560000" cy="1552712"/>
          </a:xfrm>
        </p:spPr>
        <p:txBody>
          <a:bodyPr/>
          <a:lstStyle>
            <a:lvl1pPr marL="0" indent="0" algn="l">
              <a:buNone/>
              <a:defRPr sz="2362">
                <a:solidFill>
                  <a:schemeClr val="accent2"/>
                </a:solidFill>
              </a:defRPr>
            </a:lvl1pPr>
            <a:lvl2pPr marL="449976" indent="0" algn="ctr">
              <a:buNone/>
              <a:defRPr sz="1968"/>
            </a:lvl2pPr>
            <a:lvl3pPr marL="899952" indent="0" algn="ctr">
              <a:buNone/>
              <a:defRPr sz="1772"/>
            </a:lvl3pPr>
            <a:lvl4pPr marL="1349929" indent="0" algn="ctr">
              <a:buNone/>
              <a:defRPr sz="1575"/>
            </a:lvl4pPr>
            <a:lvl5pPr marL="1799905" indent="0" algn="ctr">
              <a:buNone/>
              <a:defRPr sz="1575"/>
            </a:lvl5pPr>
            <a:lvl6pPr marL="2249881" indent="0" algn="ctr">
              <a:buNone/>
              <a:defRPr sz="1575"/>
            </a:lvl6pPr>
            <a:lvl7pPr marL="2699857" indent="0" algn="ctr">
              <a:buNone/>
              <a:defRPr sz="1575"/>
            </a:lvl7pPr>
            <a:lvl8pPr marL="3149834" indent="0" algn="ctr">
              <a:buNone/>
              <a:defRPr sz="1575"/>
            </a:lvl8pPr>
            <a:lvl9pPr marL="3599810" indent="0" algn="ctr">
              <a:buNone/>
              <a:defRPr sz="157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autor prezentace, datum prezentace, univerzitní oddělení, fakulta, adresa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51721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00" y="4380949"/>
            <a:ext cx="7560000" cy="982528"/>
          </a:xfrm>
        </p:spPr>
        <p:txBody>
          <a:bodyPr anchor="t">
            <a:normAutofit/>
          </a:bodyPr>
          <a:lstStyle>
            <a:lvl1pPr algn="ctr"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0000" y="5363477"/>
            <a:ext cx="7560000" cy="945883"/>
          </a:xfrm>
        </p:spPr>
        <p:txBody>
          <a:bodyPr/>
          <a:lstStyle>
            <a:lvl1pPr marL="0" indent="0" algn="ctr">
              <a:buNone/>
              <a:defRPr sz="2362">
                <a:solidFill>
                  <a:schemeClr val="accent2"/>
                </a:solidFill>
              </a:defRPr>
            </a:lvl1pPr>
            <a:lvl2pPr marL="449976" indent="0" algn="ctr">
              <a:buNone/>
              <a:defRPr sz="1968"/>
            </a:lvl2pPr>
            <a:lvl3pPr marL="899952" indent="0" algn="ctr">
              <a:buNone/>
              <a:defRPr sz="1772"/>
            </a:lvl3pPr>
            <a:lvl4pPr marL="1349929" indent="0" algn="ctr">
              <a:buNone/>
              <a:defRPr sz="1575"/>
            </a:lvl4pPr>
            <a:lvl5pPr marL="1799905" indent="0" algn="ctr">
              <a:buNone/>
              <a:defRPr sz="1575"/>
            </a:lvl5pPr>
            <a:lvl6pPr marL="2249881" indent="0" algn="ctr">
              <a:buNone/>
              <a:defRPr sz="1575"/>
            </a:lvl6pPr>
            <a:lvl7pPr marL="2699857" indent="0" algn="ctr">
              <a:buNone/>
              <a:defRPr sz="1575"/>
            </a:lvl7pPr>
            <a:lvl8pPr marL="3149834" indent="0" algn="ctr">
              <a:buNone/>
              <a:defRPr sz="1575"/>
            </a:lvl8pPr>
            <a:lvl9pPr marL="3599810" indent="0" algn="ctr">
              <a:buNone/>
              <a:defRPr sz="157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80000" y="6450675"/>
            <a:ext cx="6840000" cy="216000"/>
          </a:xfrm>
        </p:spPr>
        <p:txBody>
          <a:bodyPr/>
          <a:lstStyle/>
          <a:p>
            <a:pPr algn="ctr"/>
            <a:r>
              <a:rPr lang="cs-CZ" dirty="0"/>
              <a:t>autor prezentace, datum prezentace, univerzitní oddělení, fakulta, adresa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  <p:pic>
        <p:nvPicPr>
          <p:cNvPr id="4" name="Obrázek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915" y="1260000"/>
            <a:ext cx="2203708" cy="182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24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5349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462400"/>
            <a:ext cx="3622702" cy="389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298" y="2462400"/>
            <a:ext cx="3622702" cy="389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72382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1620000"/>
            <a:ext cx="7560000" cy="748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368800"/>
            <a:ext cx="3621600" cy="693376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3151650"/>
            <a:ext cx="3621600" cy="320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8400" y="2368800"/>
            <a:ext cx="3621600" cy="693376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8400" y="3151650"/>
            <a:ext cx="3621600" cy="320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11271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2472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81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1620000"/>
            <a:ext cx="3004102" cy="748800"/>
          </a:xfrm>
        </p:spPr>
        <p:txBody>
          <a:bodyPr anchor="b">
            <a:normAutofit/>
          </a:bodyPr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1620000"/>
            <a:ext cx="4454024" cy="47332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968"/>
            </a:lvl6pPr>
            <a:lvl7pPr>
              <a:defRPr sz="1968"/>
            </a:lvl7pPr>
            <a:lvl8pPr>
              <a:defRPr sz="1968"/>
            </a:lvl8pPr>
            <a:lvl9pPr>
              <a:defRPr sz="19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458274"/>
            <a:ext cx="3004102" cy="3902926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28856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1620000"/>
            <a:ext cx="7560000" cy="74808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cs-CZ" dirty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460567"/>
            <a:ext cx="7560000" cy="389866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0000" y="6450675"/>
            <a:ext cx="7118902" cy="216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autor prezentace, datum prezentace, univerzitní oddělení, fakulta, adresa</a:t>
            </a:r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63593" y="6450675"/>
            <a:ext cx="31640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03B6205-E093-439F-9685-8F7A4FC3F425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10" name="Obrázek 9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540000"/>
            <a:ext cx="2560325" cy="7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032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3" r:id="rId2"/>
    <p:sldLayoutId id="2147483685" r:id="rId3"/>
    <p:sldLayoutId id="2147483674" r:id="rId4"/>
    <p:sldLayoutId id="2147483676" r:id="rId5"/>
    <p:sldLayoutId id="2147483677" r:id="rId6"/>
    <p:sldLayoutId id="2147483678" r:id="rId7"/>
    <p:sldLayoutId id="2147483679" r:id="rId8"/>
    <p:sldLayoutId id="2147483680" r:id="rId9"/>
  </p:sldLayoutIdLst>
  <p:hf sldNum="0" hdr="0" dt="0"/>
  <p:txStyles>
    <p:titleStyle>
      <a:lvl1pPr algn="l" defTabSz="899952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66700" indent="-266700" algn="l" defTabSz="899952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−"/>
        <a:defRPr sz="20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39750" indent="-273050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−"/>
        <a:defRPr sz="180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06450" indent="-266700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−"/>
        <a:defRPr sz="160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71563" indent="-265113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−"/>
        <a:defRPr sz="140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346200" indent="-27463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−"/>
        <a:defRPr sz="140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74869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924846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374822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824798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1pPr>
      <a:lvl2pPr marL="449976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99952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349929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1799905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249881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699857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149834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59981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b-engines.com/en/ranking_categories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Grafové databáze – přehled a srovnání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Prezentace k obhajobě bakalářské práce</a:t>
            </a: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/>
              <a:t>Jan Gaja, 21.3.2024, Katedra informatiky, Přírodovědecká fakulta, Univerzita Palackého v Olomouci</a:t>
            </a:r>
          </a:p>
        </p:txBody>
      </p:sp>
    </p:spTree>
    <p:extLst>
      <p:ext uri="{BB962C8B-B14F-4D97-AF65-F5344CB8AC3E}">
        <p14:creationId xmlns:p14="http://schemas.microsoft.com/office/powerpoint/2010/main" val="2874114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Grafové databáze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Založené na oboru diskrétní matematiky – teorie grafů</a:t>
            </a:r>
          </a:p>
          <a:p>
            <a:r>
              <a:rPr lang="cs-CZ" dirty="0"/>
              <a:t>Vztahy mezi entitami jsou stejně důležité jako samotné entity</a:t>
            </a:r>
          </a:p>
          <a:p>
            <a:r>
              <a:rPr lang="cs-CZ" dirty="0"/>
              <a:t>Nativní grafové databáze</a:t>
            </a:r>
          </a:p>
          <a:p>
            <a:pPr lvl="1"/>
            <a:r>
              <a:rPr lang="cs-CZ" dirty="0"/>
              <a:t>Index-free </a:t>
            </a:r>
            <a:r>
              <a:rPr lang="cs-CZ" dirty="0" err="1"/>
              <a:t>adjacency</a:t>
            </a:r>
            <a:endParaRPr lang="cs-CZ" dirty="0"/>
          </a:p>
          <a:p>
            <a:pPr lvl="1"/>
            <a:r>
              <a:rPr lang="cs-CZ" dirty="0"/>
              <a:t>Data jsou uložena v grafové struktuře</a:t>
            </a:r>
          </a:p>
          <a:p>
            <a:r>
              <a:rPr lang="cs-CZ" dirty="0"/>
              <a:t>Grafové modely</a:t>
            </a:r>
          </a:p>
          <a:p>
            <a:pPr lvl="1"/>
            <a:r>
              <a:rPr lang="cs-CZ" dirty="0"/>
              <a:t>Graf s vlastnostmi</a:t>
            </a:r>
          </a:p>
          <a:p>
            <a:pPr lvl="1"/>
            <a:r>
              <a:rPr lang="cs-CZ" dirty="0"/>
              <a:t>RDF</a:t>
            </a:r>
          </a:p>
          <a:p>
            <a:pPr lvl="1"/>
            <a:r>
              <a:rPr lang="cs-CZ" dirty="0" err="1"/>
              <a:t>Hypergrafy</a:t>
            </a:r>
            <a:endParaRPr lang="cs-CZ" dirty="0"/>
          </a:p>
          <a:p>
            <a:r>
              <a:rPr lang="cs-CZ" dirty="0"/>
              <a:t>Systémy OLTP a OLAP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Jan Gaja, 21.3.2024, Katedra informatiky, Přírodovědecká fakulta, </a:t>
            </a:r>
            <a:r>
              <a:rPr lang="en-GB" dirty="0" err="1"/>
              <a:t>Univerzita</a:t>
            </a:r>
            <a:r>
              <a:rPr lang="en-GB" dirty="0"/>
              <a:t> </a:t>
            </a:r>
            <a:r>
              <a:rPr lang="en-GB" dirty="0" err="1"/>
              <a:t>Palackého</a:t>
            </a:r>
            <a:r>
              <a:rPr lang="en-GB" dirty="0"/>
              <a:t> v </a:t>
            </a:r>
            <a:r>
              <a:rPr lang="en-GB" dirty="0" err="1"/>
              <a:t>Olomouci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7501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55879-ADE7-C065-9158-4611373FD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Popularita grafových databází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38EDBD0-4F5D-B249-77B0-71768BC9A4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6902"/>
          <a:stretch/>
        </p:blipFill>
        <p:spPr>
          <a:xfrm>
            <a:off x="719538" y="2323581"/>
            <a:ext cx="7559213" cy="4132469"/>
          </a:xfrm>
          <a:ln>
            <a:solidFill>
              <a:schemeClr val="bg1"/>
            </a:solidFill>
          </a:ln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FE5F0-34B2-02DE-0A6F-CAB46D85C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Jan Gaja, 21.3.2024, Katedra informatiky, Přírodovědecká fakulta, </a:t>
            </a:r>
            <a:r>
              <a:rPr lang="en-GB" dirty="0" err="1"/>
              <a:t>Univerzita</a:t>
            </a:r>
            <a:r>
              <a:rPr lang="en-GB" dirty="0"/>
              <a:t> </a:t>
            </a:r>
            <a:r>
              <a:rPr lang="en-GB" dirty="0" err="1"/>
              <a:t>Palackého</a:t>
            </a:r>
            <a:r>
              <a:rPr lang="en-GB" dirty="0"/>
              <a:t> v </a:t>
            </a:r>
            <a:r>
              <a:rPr lang="en-GB" dirty="0" err="1"/>
              <a:t>Olomouci</a:t>
            </a:r>
            <a:endParaRPr lang="cs-CZ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52A430-BFA7-C36A-3FE8-6C0DD557EF00}"/>
              </a:ext>
            </a:extLst>
          </p:cNvPr>
          <p:cNvSpPr txBox="1"/>
          <p:nvPr/>
        </p:nvSpPr>
        <p:spPr>
          <a:xfrm>
            <a:off x="718289" y="2057894"/>
            <a:ext cx="76328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200" dirty="0"/>
              <a:t>Zdroj: </a:t>
            </a:r>
            <a:r>
              <a:rPr lang="en-GB" sz="1200" dirty="0"/>
              <a:t>DB-Engines</a:t>
            </a:r>
            <a:r>
              <a:rPr lang="cs-CZ" sz="1200" dirty="0"/>
              <a:t>.</a:t>
            </a:r>
            <a:r>
              <a:rPr lang="en-GB" sz="1200" dirty="0"/>
              <a:t> </a:t>
            </a:r>
            <a:r>
              <a:rPr lang="en-GB" sz="1200" i="1" dirty="0"/>
              <a:t>Ranking per database model category</a:t>
            </a:r>
            <a:r>
              <a:rPr lang="cs-CZ" sz="1200" dirty="0"/>
              <a:t>. 2024. &lt;</a:t>
            </a:r>
            <a:r>
              <a:rPr lang="cs-CZ" sz="1200" dirty="0">
                <a:hlinkClick r:id="rId3"/>
              </a:rPr>
              <a:t>db-engines.com/en/</a:t>
            </a:r>
            <a:r>
              <a:rPr lang="cs-CZ" sz="1200" dirty="0" err="1">
                <a:hlinkClick r:id="rId3"/>
              </a:rPr>
              <a:t>ranking_categories</a:t>
            </a:r>
            <a:r>
              <a:rPr lang="cs-CZ" sz="1200" dirty="0"/>
              <a:t>&gt;</a:t>
            </a:r>
            <a:endParaRPr lang="en-GB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3F458A-FD74-1E74-6ACC-602771B3FE99}"/>
              </a:ext>
            </a:extLst>
          </p:cNvPr>
          <p:cNvSpPr txBox="1"/>
          <p:nvPr/>
        </p:nvSpPr>
        <p:spPr>
          <a:xfrm>
            <a:off x="718289" y="2319504"/>
            <a:ext cx="1158115" cy="307777"/>
          </a:xfrm>
          <a:prstGeom prst="rect">
            <a:avLst/>
          </a:prstGeom>
          <a:solidFill>
            <a:srgbClr val="8ABB1E"/>
          </a:solidFill>
        </p:spPr>
        <p:txBody>
          <a:bodyPr wrap="square" rtlCol="0">
            <a:spAutoFit/>
          </a:bodyPr>
          <a:lstStyle/>
          <a:p>
            <a:r>
              <a:rPr lang="cs-CZ" sz="1400" dirty="0" err="1">
                <a:solidFill>
                  <a:schemeClr val="bg1"/>
                </a:solidFill>
              </a:rPr>
              <a:t>Graph</a:t>
            </a:r>
            <a:r>
              <a:rPr lang="cs-CZ" sz="1400" dirty="0">
                <a:solidFill>
                  <a:schemeClr val="bg1"/>
                </a:solidFill>
              </a:rPr>
              <a:t> DBMS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7F9E62-E29F-6918-2A6A-2A224C2D37AC}"/>
              </a:ext>
            </a:extLst>
          </p:cNvPr>
          <p:cNvSpPr txBox="1"/>
          <p:nvPr/>
        </p:nvSpPr>
        <p:spPr>
          <a:xfrm>
            <a:off x="1948768" y="2319501"/>
            <a:ext cx="1424241" cy="307777"/>
          </a:xfrm>
          <a:prstGeom prst="rect">
            <a:avLst/>
          </a:prstGeom>
          <a:solidFill>
            <a:srgbClr val="1B3046"/>
          </a:solidFill>
        </p:spPr>
        <p:txBody>
          <a:bodyPr wrap="square" rtlCol="0">
            <a:spAutoFit/>
          </a:bodyPr>
          <a:lstStyle/>
          <a:p>
            <a:r>
              <a:rPr lang="cs-CZ" sz="1400" dirty="0" err="1">
                <a:solidFill>
                  <a:schemeClr val="bg1"/>
                </a:solidFill>
              </a:rPr>
              <a:t>Document</a:t>
            </a:r>
            <a:r>
              <a:rPr lang="cs-CZ" sz="1400" dirty="0">
                <a:solidFill>
                  <a:schemeClr val="bg1"/>
                </a:solidFill>
              </a:rPr>
              <a:t> </a:t>
            </a:r>
            <a:r>
              <a:rPr lang="cs-CZ" sz="1400" dirty="0" err="1">
                <a:solidFill>
                  <a:schemeClr val="bg1"/>
                </a:solidFill>
              </a:rPr>
              <a:t>store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86A9E1-ED68-B41F-AF8B-58E22030EBD3}"/>
              </a:ext>
            </a:extLst>
          </p:cNvPr>
          <p:cNvSpPr txBox="1"/>
          <p:nvPr/>
        </p:nvSpPr>
        <p:spPr>
          <a:xfrm>
            <a:off x="3445375" y="2319501"/>
            <a:ext cx="1376726" cy="307777"/>
          </a:xfrm>
          <a:prstGeom prst="rect">
            <a:avLst/>
          </a:prstGeom>
          <a:solidFill>
            <a:srgbClr val="9E1D1D"/>
          </a:solidFill>
        </p:spPr>
        <p:txBody>
          <a:bodyPr wrap="square" rtlCol="0">
            <a:spAutoFit/>
          </a:bodyPr>
          <a:lstStyle/>
          <a:p>
            <a:r>
              <a:rPr lang="cs-CZ" sz="1400" dirty="0" err="1">
                <a:solidFill>
                  <a:schemeClr val="bg1"/>
                </a:solidFill>
              </a:rPr>
              <a:t>Key-value</a:t>
            </a:r>
            <a:r>
              <a:rPr lang="cs-CZ" sz="1400" dirty="0">
                <a:solidFill>
                  <a:schemeClr val="bg1"/>
                </a:solidFill>
              </a:rPr>
              <a:t> </a:t>
            </a:r>
            <a:r>
              <a:rPr lang="cs-CZ" sz="1400" dirty="0" err="1">
                <a:solidFill>
                  <a:schemeClr val="bg1"/>
                </a:solidFill>
              </a:rPr>
              <a:t>store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B31F21-0D4F-F23B-CE67-778451F22B87}"/>
              </a:ext>
            </a:extLst>
          </p:cNvPr>
          <p:cNvSpPr txBox="1"/>
          <p:nvPr/>
        </p:nvSpPr>
        <p:spPr>
          <a:xfrm>
            <a:off x="4894467" y="2319501"/>
            <a:ext cx="1847426" cy="307777"/>
          </a:xfrm>
          <a:prstGeom prst="rect">
            <a:avLst/>
          </a:prstGeom>
          <a:solidFill>
            <a:srgbClr val="6F9CE3"/>
          </a:solidFill>
        </p:spPr>
        <p:txBody>
          <a:bodyPr wrap="square" rtlCol="0">
            <a:spAutoFit/>
          </a:bodyPr>
          <a:lstStyle/>
          <a:p>
            <a:r>
              <a:rPr lang="cs-CZ" sz="1400" dirty="0" err="1">
                <a:solidFill>
                  <a:schemeClr val="bg1"/>
                </a:solidFill>
              </a:rPr>
              <a:t>Object</a:t>
            </a:r>
            <a:r>
              <a:rPr lang="cs-CZ" sz="1400" dirty="0">
                <a:solidFill>
                  <a:schemeClr val="bg1"/>
                </a:solidFill>
              </a:rPr>
              <a:t> </a:t>
            </a:r>
            <a:r>
              <a:rPr lang="cs-CZ" sz="1400" dirty="0" err="1">
                <a:solidFill>
                  <a:schemeClr val="bg1"/>
                </a:solidFill>
              </a:rPr>
              <a:t>oriented</a:t>
            </a:r>
            <a:r>
              <a:rPr lang="cs-CZ" sz="1400" dirty="0">
                <a:solidFill>
                  <a:schemeClr val="bg1"/>
                </a:solidFill>
              </a:rPr>
              <a:t> DBMS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11008F-3B95-67DA-2BB6-85B7C0F2EB25}"/>
              </a:ext>
            </a:extLst>
          </p:cNvPr>
          <p:cNvSpPr txBox="1"/>
          <p:nvPr/>
        </p:nvSpPr>
        <p:spPr>
          <a:xfrm>
            <a:off x="6814258" y="2319501"/>
            <a:ext cx="1465118" cy="307777"/>
          </a:xfrm>
          <a:prstGeom prst="rect">
            <a:avLst/>
          </a:prstGeom>
          <a:solidFill>
            <a:srgbClr val="F41D1D"/>
          </a:solidFill>
        </p:spPr>
        <p:txBody>
          <a:bodyPr wrap="square" rtlCol="0">
            <a:spAutoFit/>
          </a:bodyPr>
          <a:lstStyle/>
          <a:p>
            <a:r>
              <a:rPr lang="cs-CZ" sz="1400" dirty="0" err="1">
                <a:solidFill>
                  <a:schemeClr val="bg1"/>
                </a:solidFill>
              </a:rPr>
              <a:t>Relational</a:t>
            </a:r>
            <a:r>
              <a:rPr lang="cs-CZ" sz="1400" dirty="0">
                <a:solidFill>
                  <a:schemeClr val="bg1"/>
                </a:solidFill>
              </a:rPr>
              <a:t> DBMS</a:t>
            </a:r>
            <a:endParaRPr lang="en-GB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914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3B78A1-B8A1-96B5-D1C3-E4FA8FD6F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FCFD76-3DE5-20C9-CF9D-70186D70B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Výhody grafové databáze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E7797FF-93DC-2EE1-0CFC-0E78ACE36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Vztahy mezi entitami uloženy přímo v databázi</a:t>
            </a:r>
          </a:p>
          <a:p>
            <a:pPr lvl="1"/>
            <a:r>
              <a:rPr lang="cs-CZ" dirty="0"/>
              <a:t>Čas pro vyhodnocení dotazu závisí pouze na velikosti procházeného podgrafu</a:t>
            </a:r>
          </a:p>
          <a:p>
            <a:r>
              <a:rPr lang="cs-CZ" dirty="0"/>
              <a:t>Grafová struktura popisuje jak nad daty přemýšlíme</a:t>
            </a:r>
          </a:p>
          <a:p>
            <a:r>
              <a:rPr lang="cs-CZ" dirty="0" err="1"/>
              <a:t>Schema-less</a:t>
            </a:r>
            <a:r>
              <a:rPr lang="cs-CZ" dirty="0"/>
              <a:t> – nevynucují definování schématu</a:t>
            </a:r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08EF3CE-83B0-6D25-41A5-ADE95FE20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Jan Gaja, 21.3.2024, Katedra informatiky, Přírodovědecká fakulta, </a:t>
            </a:r>
            <a:r>
              <a:rPr lang="en-GB" dirty="0" err="1"/>
              <a:t>Univerzita</a:t>
            </a:r>
            <a:r>
              <a:rPr lang="en-GB" dirty="0"/>
              <a:t> </a:t>
            </a:r>
            <a:r>
              <a:rPr lang="en-GB" dirty="0" err="1"/>
              <a:t>Palackého</a:t>
            </a:r>
            <a:r>
              <a:rPr lang="en-GB" dirty="0"/>
              <a:t> v </a:t>
            </a:r>
            <a:r>
              <a:rPr lang="en-GB" dirty="0" err="1"/>
              <a:t>Olomouci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03701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241703-0951-9D2B-8254-A4F396BEA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8D58F4-0933-002F-32C9-0036CEE8B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Nevýhody grafové databáze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E57736C-3062-0A22-3604-11F9A5B8C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Neexistuje jeden standardní dotazovací jazyk</a:t>
            </a:r>
          </a:p>
          <a:p>
            <a:r>
              <a:rPr lang="cs-CZ" dirty="0"/>
              <a:t>Problémem jsou operace agregování a filtrování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FB464FA-6BA1-4E45-C048-B6C407716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Jan Gaja, 21.3.2024, Katedra informatiky, Přírodovědecká fakulta, </a:t>
            </a:r>
            <a:r>
              <a:rPr lang="en-GB" dirty="0" err="1"/>
              <a:t>Univerzita</a:t>
            </a:r>
            <a:r>
              <a:rPr lang="en-GB" dirty="0"/>
              <a:t> </a:t>
            </a:r>
            <a:r>
              <a:rPr lang="en-GB" dirty="0" err="1"/>
              <a:t>Palackého</a:t>
            </a:r>
            <a:r>
              <a:rPr lang="en-GB" dirty="0"/>
              <a:t> v </a:t>
            </a:r>
            <a:r>
              <a:rPr lang="en-GB" dirty="0" err="1"/>
              <a:t>Olomouci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47569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6A7B20-CF5E-4E1E-54FE-CF769BA43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92EE3C-2D4F-D5AB-89EB-2669798F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Implementace grafových databází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20D6CB2-D8B7-7F3B-16EC-FF71354C7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Existuje spousta implementací</a:t>
            </a:r>
          </a:p>
          <a:p>
            <a:pPr lvl="1"/>
            <a:r>
              <a:rPr lang="cs-CZ" dirty="0"/>
              <a:t>Liší se </a:t>
            </a:r>
            <a:r>
              <a:rPr lang="cs-CZ" dirty="0" err="1"/>
              <a:t>nativností</a:t>
            </a:r>
            <a:r>
              <a:rPr lang="cs-CZ" dirty="0"/>
              <a:t>, podporou ACID transakcí, škálovatelností…</a:t>
            </a:r>
          </a:p>
          <a:p>
            <a:r>
              <a:rPr lang="cs-CZ" dirty="0"/>
              <a:t>Vybrané implementace:</a:t>
            </a:r>
          </a:p>
          <a:p>
            <a:pPr lvl="1"/>
            <a:r>
              <a:rPr lang="cs-CZ" dirty="0"/>
              <a:t>neo4j</a:t>
            </a:r>
          </a:p>
          <a:p>
            <a:pPr lvl="1"/>
            <a:r>
              <a:rPr lang="cs-CZ" dirty="0" err="1"/>
              <a:t>OrientDB</a:t>
            </a:r>
            <a:endParaRPr lang="cs-CZ" dirty="0"/>
          </a:p>
          <a:p>
            <a:pPr lvl="1"/>
            <a:r>
              <a:rPr lang="cs-CZ" dirty="0" err="1"/>
              <a:t>ArangoDB</a:t>
            </a:r>
            <a:endParaRPr lang="cs-CZ" dirty="0"/>
          </a:p>
          <a:p>
            <a:pPr lvl="1"/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973CCC3-D299-B93A-1530-385121D10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Jan Gaja, 21.3.2024, Katedra informatiky, Přírodovědecká fakulta, </a:t>
            </a:r>
            <a:r>
              <a:rPr lang="en-GB" dirty="0" err="1"/>
              <a:t>Univerzita</a:t>
            </a:r>
            <a:r>
              <a:rPr lang="en-GB" dirty="0"/>
              <a:t> </a:t>
            </a:r>
            <a:r>
              <a:rPr lang="en-GB" dirty="0" err="1"/>
              <a:t>Palackého</a:t>
            </a:r>
            <a:r>
              <a:rPr lang="en-GB" dirty="0"/>
              <a:t> v </a:t>
            </a:r>
            <a:r>
              <a:rPr lang="en-GB" dirty="0" err="1"/>
              <a:t>Olomouci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45616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C85DBC-19C1-8372-D822-0C28E8435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12CADF-1BA6-4E32-3B10-040C79BDB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Dotazovací jazyky v grafových databázích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8100217-CB20-3970-F373-E1E439341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Definují </a:t>
            </a:r>
            <a:r>
              <a:rPr lang="cs-CZ" i="1" dirty="0"/>
              <a:t>grafové vzory</a:t>
            </a:r>
          </a:p>
          <a:p>
            <a:pPr lvl="1"/>
            <a:r>
              <a:rPr lang="cs-CZ"/>
              <a:t>Ty popisují, jakým způsobem grafem procházíme</a:t>
            </a:r>
          </a:p>
          <a:p>
            <a:r>
              <a:rPr lang="cs-CZ"/>
              <a:t>Používané </a:t>
            </a:r>
            <a:r>
              <a:rPr lang="cs-CZ" dirty="0"/>
              <a:t>dotazovací jazyky</a:t>
            </a:r>
          </a:p>
          <a:p>
            <a:pPr lvl="1"/>
            <a:r>
              <a:rPr lang="cs-CZ"/>
              <a:t>Cypher – v databázi Neo4j</a:t>
            </a:r>
          </a:p>
          <a:p>
            <a:pPr lvl="1"/>
            <a:r>
              <a:rPr lang="cs-CZ"/>
              <a:t>Gremlin – v databázi OrientDB</a:t>
            </a:r>
          </a:p>
          <a:p>
            <a:pPr lvl="1"/>
            <a:r>
              <a:rPr lang="cs-CZ"/>
              <a:t>AQL (ArangoDB Query Language) – v databázi ArangoDB</a:t>
            </a: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F92A559-102B-FAA1-E7BC-09894CFA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Jan Gaja, 21.3.2024, Katedra informatiky, Přírodovědecká fakulta, </a:t>
            </a:r>
            <a:r>
              <a:rPr lang="en-GB"/>
              <a:t>Univerzita Palackého v Olomouci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4790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FCC1F-F127-CD7B-0426-5A5E6E66C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49CD5F-A91D-7EF3-F97D-A7236A1B6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Modelování grafových dat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3F1C213-27E9-5E03-767B-A2746B4C5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Entity a vztahy z reálného světa překládány do grafové reprezentace</a:t>
            </a:r>
          </a:p>
          <a:p>
            <a:r>
              <a:rPr lang="en-GB" dirty="0" err="1"/>
              <a:t>Dodržení</a:t>
            </a:r>
            <a:r>
              <a:rPr lang="en-GB" dirty="0"/>
              <a:t> </a:t>
            </a:r>
            <a:r>
              <a:rPr lang="en-GB" dirty="0" err="1"/>
              <a:t>základních</a:t>
            </a:r>
            <a:r>
              <a:rPr lang="en-GB" dirty="0"/>
              <a:t> </a:t>
            </a:r>
            <a:r>
              <a:rPr lang="en-GB" dirty="0" err="1"/>
              <a:t>principů</a:t>
            </a:r>
            <a:r>
              <a:rPr lang="en-GB" dirty="0"/>
              <a:t> </a:t>
            </a:r>
            <a:r>
              <a:rPr lang="en-GB" dirty="0" err="1"/>
              <a:t>modelování</a:t>
            </a:r>
            <a:r>
              <a:rPr lang="en-GB" dirty="0"/>
              <a:t> </a:t>
            </a:r>
            <a:r>
              <a:rPr lang="en-GB" dirty="0" err="1"/>
              <a:t>dat</a:t>
            </a:r>
            <a:r>
              <a:rPr lang="en-GB" dirty="0"/>
              <a:t> je </a:t>
            </a:r>
            <a:r>
              <a:rPr lang="en-GB" dirty="0" err="1"/>
              <a:t>důležité</a:t>
            </a:r>
            <a:r>
              <a:rPr lang="en-GB" dirty="0"/>
              <a:t> pro </a:t>
            </a:r>
            <a:r>
              <a:rPr lang="en-GB" dirty="0" err="1"/>
              <a:t>výslednou</a:t>
            </a:r>
            <a:r>
              <a:rPr lang="en-GB" dirty="0"/>
              <a:t> </a:t>
            </a:r>
            <a:r>
              <a:rPr lang="en-GB" dirty="0" err="1"/>
              <a:t>efektivitu</a:t>
            </a:r>
            <a:endParaRPr lang="cs-CZ" dirty="0"/>
          </a:p>
          <a:p>
            <a:r>
              <a:rPr lang="cs-CZ" dirty="0"/>
              <a:t>N</a:t>
            </a:r>
            <a:r>
              <a:rPr lang="en-GB" dirty="0"/>
              <a:t>e </a:t>
            </a:r>
            <a:r>
              <a:rPr lang="en-GB" dirty="0" err="1"/>
              <a:t>všechna</a:t>
            </a:r>
            <a:r>
              <a:rPr lang="en-GB" dirty="0"/>
              <a:t> data </a:t>
            </a:r>
            <a:r>
              <a:rPr lang="en-GB" dirty="0" err="1"/>
              <a:t>jsou</a:t>
            </a:r>
            <a:r>
              <a:rPr lang="en-GB" dirty="0"/>
              <a:t> </a:t>
            </a:r>
            <a:r>
              <a:rPr lang="en-GB" dirty="0" err="1"/>
              <a:t>vhodná</a:t>
            </a:r>
            <a:r>
              <a:rPr lang="en-GB" dirty="0"/>
              <a:t> pro </a:t>
            </a:r>
            <a:r>
              <a:rPr lang="en-GB" dirty="0" err="1"/>
              <a:t>uchovávání</a:t>
            </a:r>
            <a:r>
              <a:rPr lang="en-GB" dirty="0"/>
              <a:t> v </a:t>
            </a:r>
            <a:r>
              <a:rPr lang="en-GB" dirty="0" err="1"/>
              <a:t>grafové</a:t>
            </a:r>
            <a:r>
              <a:rPr lang="en-GB" dirty="0"/>
              <a:t> </a:t>
            </a:r>
            <a:r>
              <a:rPr lang="en-GB" dirty="0" err="1"/>
              <a:t>podobě</a:t>
            </a: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6C19204-FE75-A1B8-256B-1388FC32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Jan Gaja, 21.3.2024, Katedra informatiky, Přírodovědecká fakulta, </a:t>
            </a:r>
            <a:r>
              <a:rPr lang="en-GB" dirty="0" err="1"/>
              <a:t>Univerzita</a:t>
            </a:r>
            <a:r>
              <a:rPr lang="en-GB" dirty="0"/>
              <a:t> </a:t>
            </a:r>
            <a:r>
              <a:rPr lang="en-GB" dirty="0" err="1"/>
              <a:t>Palackého</a:t>
            </a:r>
            <a:r>
              <a:rPr lang="en-GB" dirty="0"/>
              <a:t> v </a:t>
            </a:r>
            <a:r>
              <a:rPr lang="en-GB" dirty="0" err="1"/>
              <a:t>Olomouci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80777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062AC-1C04-0148-F55D-C5E8266DB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Modelování lze rozdělit do 4 fází:</a:t>
            </a: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5289832-C13B-BF13-93B3-550EB8191E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3102695"/>
              </p:ext>
            </p:extLst>
          </p:nvPr>
        </p:nvGraphicFramePr>
        <p:xfrm>
          <a:off x="720725" y="2460625"/>
          <a:ext cx="7559674" cy="37072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79837">
                  <a:extLst>
                    <a:ext uri="{9D8B030D-6E8A-4147-A177-3AD203B41FA5}">
                      <a16:colId xmlns:a16="http://schemas.microsoft.com/office/drawing/2014/main" val="1664386865"/>
                    </a:ext>
                  </a:extLst>
                </a:gridCol>
                <a:gridCol w="3779837">
                  <a:extLst>
                    <a:ext uri="{9D8B030D-6E8A-4147-A177-3AD203B41FA5}">
                      <a16:colId xmlns:a16="http://schemas.microsoft.com/office/drawing/2014/main" val="2137415250"/>
                    </a:ext>
                  </a:extLst>
                </a:gridCol>
              </a:tblGrid>
              <a:tr h="1853631">
                <a:tc>
                  <a:txBody>
                    <a:bodyPr/>
                    <a:lstStyle/>
                    <a:p>
                      <a:r>
                        <a:rPr lang="cs-CZ" dirty="0"/>
                        <a:t>1. Definice problému</a:t>
                      </a:r>
                      <a:endParaRPr lang="cs-CZ" sz="177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indent="-285750" algn="l" defTabSz="899952" rtl="0" eaLnBrk="1" latinLnBrk="0" hangingPunct="1">
                        <a:lnSpc>
                          <a:spcPct val="90000"/>
                        </a:lnSpc>
                        <a:buFont typeface="Arial" panose="020B0604020202020204" pitchFamily="34" charset="0"/>
                        <a:buChar char="−"/>
                      </a:pPr>
                      <a:r>
                        <a:rPr lang="cs-CZ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Budeme uchovávat informace o zákaznících a produktech, které nakoupili.</a:t>
                      </a:r>
                    </a:p>
                    <a:p>
                      <a:pPr marL="285750" indent="-285750" algn="l" defTabSz="899952" rtl="0" eaLnBrk="1" latinLnBrk="0" hangingPunct="1">
                        <a:lnSpc>
                          <a:spcPct val="90000"/>
                        </a:lnSpc>
                        <a:buFont typeface="Arial" panose="020B0604020202020204" pitchFamily="34" charset="0"/>
                        <a:buChar char="−"/>
                      </a:pPr>
                      <a:r>
                        <a:rPr lang="cs-CZ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Zákazníkovi </a:t>
                      </a:r>
                      <a:r>
                        <a:rPr lang="cs-CZ" sz="16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</a:t>
                      </a:r>
                      <a:r>
                        <a:rPr lang="cs-CZ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chceme doporučovat produkty, které nakoupili zákazníci, kteří nakoupili stejný produkt jako </a:t>
                      </a:r>
                      <a:r>
                        <a:rPr lang="cs-CZ" sz="16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</a:t>
                      </a:r>
                      <a:r>
                        <a:rPr lang="cs-CZ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2. Konceptuální model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7093573"/>
                  </a:ext>
                </a:extLst>
              </a:tr>
              <a:tr h="1853631">
                <a:tc>
                  <a:txBody>
                    <a:bodyPr/>
                    <a:lstStyle/>
                    <a:p>
                      <a:r>
                        <a:rPr lang="cs-CZ" dirty="0"/>
                        <a:t>3. Logický model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4. Testování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811387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4ECD23-4141-5B19-20FB-EC2F5BCB6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Jan Gaja, 21.3.2024, Katedra informatiky, Přírodovědecká fakulta, </a:t>
            </a:r>
            <a:r>
              <a:rPr lang="en-GB" dirty="0" err="1"/>
              <a:t>Univerzita</a:t>
            </a:r>
            <a:r>
              <a:rPr lang="en-GB" dirty="0"/>
              <a:t> </a:t>
            </a:r>
            <a:r>
              <a:rPr lang="en-GB" dirty="0" err="1"/>
              <a:t>Palackého</a:t>
            </a:r>
            <a:r>
              <a:rPr lang="en-GB" dirty="0"/>
              <a:t> v </a:t>
            </a:r>
            <a:r>
              <a:rPr lang="en-GB" dirty="0" err="1"/>
              <a:t>Olomouci</a:t>
            </a:r>
            <a:endParaRPr lang="cs-CZ" dirty="0"/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E6BB1336-54EE-A178-437C-F1B13980B3B6}"/>
              </a:ext>
            </a:extLst>
          </p:cNvPr>
          <p:cNvSpPr/>
          <p:nvPr/>
        </p:nvSpPr>
        <p:spPr>
          <a:xfrm>
            <a:off x="4693183" y="3017914"/>
            <a:ext cx="900000" cy="720000"/>
          </a:xfrm>
          <a:prstGeom prst="flowChartProcess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1600" dirty="0"/>
              <a:t>Zákazník</a:t>
            </a:r>
            <a:endParaRPr lang="en-GB" sz="1600" dirty="0"/>
          </a:p>
        </p:txBody>
      </p:sp>
      <p:sp>
        <p:nvSpPr>
          <p:cNvPr id="27" name="Flowchart: Process 26">
            <a:extLst>
              <a:ext uri="{FF2B5EF4-FFF2-40B4-BE49-F238E27FC236}">
                <a16:creationId xmlns:a16="http://schemas.microsoft.com/office/drawing/2014/main" id="{728C0A3E-E7E2-5517-6949-5D6F2083F48E}"/>
              </a:ext>
            </a:extLst>
          </p:cNvPr>
          <p:cNvSpPr/>
          <p:nvPr/>
        </p:nvSpPr>
        <p:spPr>
          <a:xfrm>
            <a:off x="7193228" y="3017914"/>
            <a:ext cx="900000" cy="720000"/>
          </a:xfrm>
          <a:prstGeom prst="flowChartProcess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1600" dirty="0"/>
              <a:t>Produkt</a:t>
            </a:r>
            <a:endParaRPr lang="en-GB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5F7C41C-E2B9-E836-0C76-C4BBC19E917A}"/>
              </a:ext>
            </a:extLst>
          </p:cNvPr>
          <p:cNvCxnSpPr>
            <a:cxnSpLocks/>
          </p:cNvCxnSpPr>
          <p:nvPr/>
        </p:nvCxnSpPr>
        <p:spPr>
          <a:xfrm>
            <a:off x="5653081" y="3376460"/>
            <a:ext cx="14865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2260BA2-040A-6F08-3EF7-72AF4A39C473}"/>
              </a:ext>
            </a:extLst>
          </p:cNvPr>
          <p:cNvSpPr txBox="1"/>
          <p:nvPr/>
        </p:nvSpPr>
        <p:spPr>
          <a:xfrm>
            <a:off x="6050273" y="3202021"/>
            <a:ext cx="6858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cs-CZ" sz="1600" dirty="0"/>
              <a:t>koupil</a:t>
            </a:r>
            <a:endParaRPr lang="en-GB" sz="1000" dirty="0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CA7393D1-03F2-AAA4-A7DB-F9A89C50B3C5}"/>
              </a:ext>
            </a:extLst>
          </p:cNvPr>
          <p:cNvSpPr/>
          <p:nvPr/>
        </p:nvSpPr>
        <p:spPr>
          <a:xfrm>
            <a:off x="1211323" y="5389658"/>
            <a:ext cx="664234" cy="664234"/>
          </a:xfrm>
          <a:prstGeom prst="flowChartConnector">
            <a:avLst/>
          </a:prstGeom>
          <a:solidFill>
            <a:schemeClr val="accent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1800" dirty="0">
                <a:solidFill>
                  <a:schemeClr val="bg1"/>
                </a:solidFill>
              </a:rPr>
              <a:t>Z</a:t>
            </a:r>
            <a:endParaRPr lang="en-GB" sz="1800" dirty="0">
              <a:solidFill>
                <a:schemeClr val="bg1"/>
              </a:solidFill>
            </a:endParaRPr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CD513460-0F59-8AAB-E489-7F8EBEDA4C17}"/>
              </a:ext>
            </a:extLst>
          </p:cNvPr>
          <p:cNvSpPr/>
          <p:nvPr/>
        </p:nvSpPr>
        <p:spPr>
          <a:xfrm>
            <a:off x="3382304" y="5389658"/>
            <a:ext cx="664234" cy="664234"/>
          </a:xfrm>
          <a:prstGeom prst="flowChartConnector">
            <a:avLst/>
          </a:prstGeom>
          <a:solidFill>
            <a:schemeClr val="accent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P</a:t>
            </a:r>
            <a:endParaRPr lang="en-GB" dirty="0">
              <a:solidFill>
                <a:schemeClr val="bg1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18ECB60-EECB-3405-4306-050E70AAA6D2}"/>
              </a:ext>
            </a:extLst>
          </p:cNvPr>
          <p:cNvCxnSpPr>
            <a:stCxn id="32" idx="6"/>
            <a:endCxn id="33" idx="2"/>
          </p:cNvCxnSpPr>
          <p:nvPr/>
        </p:nvCxnSpPr>
        <p:spPr>
          <a:xfrm>
            <a:off x="1875557" y="5721775"/>
            <a:ext cx="1506747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1A1894B-E17A-D62E-1C6D-DF1149052001}"/>
              </a:ext>
            </a:extLst>
          </p:cNvPr>
          <p:cNvSpPr txBox="1"/>
          <p:nvPr/>
        </p:nvSpPr>
        <p:spPr>
          <a:xfrm>
            <a:off x="2211698" y="5583275"/>
            <a:ext cx="83446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cs-CZ" sz="1200" dirty="0">
                <a:solidFill>
                  <a:schemeClr val="accent1"/>
                </a:solidFill>
              </a:rPr>
              <a:t>KOUPIL</a:t>
            </a:r>
            <a:endParaRPr lang="en-GB" sz="1000" dirty="0">
              <a:solidFill>
                <a:schemeClr val="accent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E00648-C5A1-AF20-4C00-6B7D7C72D009}"/>
              </a:ext>
            </a:extLst>
          </p:cNvPr>
          <p:cNvSpPr txBox="1"/>
          <p:nvPr/>
        </p:nvSpPr>
        <p:spPr>
          <a:xfrm>
            <a:off x="875181" y="4775361"/>
            <a:ext cx="664234" cy="73866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cs-CZ" sz="1400" dirty="0"/>
              <a:t>Id</a:t>
            </a:r>
          </a:p>
          <a:p>
            <a:r>
              <a:rPr lang="cs-CZ" sz="1400" dirty="0"/>
              <a:t>Jméno</a:t>
            </a:r>
          </a:p>
          <a:p>
            <a:r>
              <a:rPr lang="cs-CZ" sz="1400" dirty="0"/>
              <a:t>Email</a:t>
            </a:r>
            <a:endParaRPr lang="en-GB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46ADB0-577A-83C2-A32D-92F6B55903F1}"/>
              </a:ext>
            </a:extLst>
          </p:cNvPr>
          <p:cNvSpPr txBox="1"/>
          <p:nvPr/>
        </p:nvSpPr>
        <p:spPr>
          <a:xfrm>
            <a:off x="3718446" y="4775361"/>
            <a:ext cx="664234" cy="73866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cs-CZ" sz="1400" dirty="0"/>
              <a:t>Id</a:t>
            </a:r>
          </a:p>
          <a:p>
            <a:r>
              <a:rPr lang="cs-CZ" sz="1400" dirty="0"/>
              <a:t>Jméno</a:t>
            </a:r>
          </a:p>
          <a:p>
            <a:r>
              <a:rPr lang="cs-CZ" sz="1400" dirty="0"/>
              <a:t>Cena</a:t>
            </a:r>
            <a:endParaRPr lang="en-GB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121A66-D78F-38F4-842B-7640C427BC4C}"/>
              </a:ext>
            </a:extLst>
          </p:cNvPr>
          <p:cNvSpPr txBox="1"/>
          <p:nvPr/>
        </p:nvSpPr>
        <p:spPr>
          <a:xfrm>
            <a:off x="2213309" y="5053510"/>
            <a:ext cx="745385" cy="5232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cs-CZ" sz="1400" dirty="0"/>
              <a:t>Počet</a:t>
            </a:r>
          </a:p>
          <a:p>
            <a:r>
              <a:rPr lang="cs-CZ" sz="1400" dirty="0"/>
              <a:t>Datum</a:t>
            </a:r>
            <a:endParaRPr lang="en-GB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D4D2C06-23B5-14E7-6021-7B250C1E10DA}"/>
              </a:ext>
            </a:extLst>
          </p:cNvPr>
          <p:cNvSpPr txBox="1"/>
          <p:nvPr/>
        </p:nvSpPr>
        <p:spPr>
          <a:xfrm>
            <a:off x="4967504" y="4760408"/>
            <a:ext cx="805035" cy="366575"/>
          </a:xfrm>
          <a:prstGeom prst="rect">
            <a:avLst/>
          </a:prstGeom>
          <a:solidFill>
            <a:schemeClr val="accent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cs-CZ"/>
            </a:defPPr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cs-CZ" dirty="0"/>
              <a:t>Index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5F049A3-DC79-9255-8FBD-11B4033C860C}"/>
              </a:ext>
            </a:extLst>
          </p:cNvPr>
          <p:cNvSpPr txBox="1"/>
          <p:nvPr/>
        </p:nvSpPr>
        <p:spPr>
          <a:xfrm>
            <a:off x="4967504" y="5415498"/>
            <a:ext cx="1561265" cy="366575"/>
          </a:xfrm>
          <a:prstGeom prst="rect">
            <a:avLst/>
          </a:prstGeom>
          <a:solidFill>
            <a:schemeClr val="accent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cs-CZ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cs-CZ" dirty="0" err="1"/>
              <a:t>Denormalizace</a:t>
            </a:r>
            <a:endParaRPr lang="en-GB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705697-6003-6CB4-65C9-577903129136}"/>
              </a:ext>
            </a:extLst>
          </p:cNvPr>
          <p:cNvSpPr txBox="1"/>
          <p:nvPr/>
        </p:nvSpPr>
        <p:spPr>
          <a:xfrm>
            <a:off x="7193228" y="4756099"/>
            <a:ext cx="805035" cy="366575"/>
          </a:xfrm>
          <a:prstGeom prst="rect">
            <a:avLst/>
          </a:prstGeom>
          <a:solidFill>
            <a:schemeClr val="accent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cs-CZ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cs-CZ" dirty="0"/>
              <a:t>Profile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47CA0A9-55CE-5F8B-61A9-BE44DE5EF905}"/>
              </a:ext>
            </a:extLst>
          </p:cNvPr>
          <p:cNvSpPr txBox="1"/>
          <p:nvPr/>
        </p:nvSpPr>
        <p:spPr>
          <a:xfrm>
            <a:off x="6060867" y="4755090"/>
            <a:ext cx="850225" cy="366575"/>
          </a:xfrm>
          <a:prstGeom prst="rect">
            <a:avLst/>
          </a:prstGeom>
          <a:solidFill>
            <a:schemeClr val="accent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cs-CZ"/>
            </a:defPPr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cs-CZ" dirty="0" err="1"/>
              <a:t>Explain</a:t>
            </a:r>
            <a:endParaRPr lang="en-GB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938A3F1-8B9D-5137-EDB6-575BB01CC782}"/>
              </a:ext>
            </a:extLst>
          </p:cNvPr>
          <p:cNvSpPr txBox="1"/>
          <p:nvPr/>
        </p:nvSpPr>
        <p:spPr>
          <a:xfrm>
            <a:off x="6962232" y="5415497"/>
            <a:ext cx="1030619" cy="366575"/>
          </a:xfrm>
          <a:prstGeom prst="rect">
            <a:avLst/>
          </a:prstGeom>
          <a:solidFill>
            <a:schemeClr val="accent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cs-CZ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cs-CZ" dirty="0"/>
              <a:t>Unit test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15950A-2645-601F-B364-8EC249BFF6FE}"/>
              </a:ext>
            </a:extLst>
          </p:cNvPr>
          <p:cNvSpPr txBox="1"/>
          <p:nvPr/>
        </p:nvSpPr>
        <p:spPr>
          <a:xfrm>
            <a:off x="4848046" y="3846046"/>
            <a:ext cx="805035" cy="366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/>
              <a:t>entita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88ECE3-7556-8748-9B2C-FC759BD9B1BF}"/>
              </a:ext>
            </a:extLst>
          </p:cNvPr>
          <p:cNvSpPr txBox="1"/>
          <p:nvPr/>
        </p:nvSpPr>
        <p:spPr>
          <a:xfrm>
            <a:off x="7139668" y="3847536"/>
            <a:ext cx="805035" cy="366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/>
              <a:t>entita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961E1D-1126-9588-9FD8-959920CC74B5}"/>
              </a:ext>
            </a:extLst>
          </p:cNvPr>
          <p:cNvSpPr txBox="1"/>
          <p:nvPr/>
        </p:nvSpPr>
        <p:spPr>
          <a:xfrm>
            <a:off x="5991700" y="3846045"/>
            <a:ext cx="805035" cy="366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/>
              <a:t>vztah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4118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99E41-AB6E-D884-D433-475EA1246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 uchovávaného grafu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B936A4-738B-214C-AEF5-613D37761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Jan Gaja, 21.3.2024, Katedra informatiky, Přírodovědecká fakulta, Univerzita Palackého v Olomouci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FCB0BF4C-8595-CDBE-BF1D-9E85C4B7E101}"/>
              </a:ext>
            </a:extLst>
          </p:cNvPr>
          <p:cNvSpPr/>
          <p:nvPr/>
        </p:nvSpPr>
        <p:spPr>
          <a:xfrm>
            <a:off x="720000" y="2520269"/>
            <a:ext cx="900000" cy="900000"/>
          </a:xfrm>
          <a:prstGeom prst="flowChartConnector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400" dirty="0">
                <a:solidFill>
                  <a:schemeClr val="tx1"/>
                </a:solidFill>
              </a:rPr>
              <a:t>Petr</a:t>
            </a:r>
          </a:p>
          <a:p>
            <a:pPr algn="ctr"/>
            <a:r>
              <a:rPr lang="cs-CZ" sz="1400" dirty="0">
                <a:solidFill>
                  <a:schemeClr val="tx1"/>
                </a:solidFill>
              </a:rPr>
              <a:t>Holý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6C2FF267-BC39-CB62-AD74-4B0B34C9E4D0}"/>
              </a:ext>
            </a:extLst>
          </p:cNvPr>
          <p:cNvSpPr/>
          <p:nvPr/>
        </p:nvSpPr>
        <p:spPr>
          <a:xfrm>
            <a:off x="7379538" y="2520269"/>
            <a:ext cx="900000" cy="900000"/>
          </a:xfrm>
          <a:prstGeom prst="flowChartConnector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400" dirty="0">
                <a:solidFill>
                  <a:schemeClr val="tx1"/>
                </a:solidFill>
              </a:rPr>
              <a:t>Petr</a:t>
            </a:r>
          </a:p>
          <a:p>
            <a:pPr algn="ctr"/>
            <a:r>
              <a:rPr lang="cs-CZ" sz="1400" dirty="0">
                <a:solidFill>
                  <a:schemeClr val="tx1"/>
                </a:solidFill>
              </a:rPr>
              <a:t>Novák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4251F369-8F48-6573-3F88-B1A1A971D28A}"/>
              </a:ext>
            </a:extLst>
          </p:cNvPr>
          <p:cNvSpPr/>
          <p:nvPr/>
        </p:nvSpPr>
        <p:spPr>
          <a:xfrm>
            <a:off x="3114371" y="5109393"/>
            <a:ext cx="900000" cy="900000"/>
          </a:xfrm>
          <a:prstGeom prst="flowChartConnector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400" dirty="0">
                <a:solidFill>
                  <a:schemeClr val="tx1"/>
                </a:solidFill>
              </a:rPr>
              <a:t>Jiří</a:t>
            </a:r>
          </a:p>
          <a:p>
            <a:pPr algn="ctr"/>
            <a:r>
              <a:rPr lang="cs-CZ" sz="1400" dirty="0">
                <a:solidFill>
                  <a:schemeClr val="tx1"/>
                </a:solidFill>
              </a:rPr>
              <a:t>Horák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D1690ABC-8001-474D-9E93-0B97AAC3DFEC}"/>
              </a:ext>
            </a:extLst>
          </p:cNvPr>
          <p:cNvSpPr/>
          <p:nvPr/>
        </p:nvSpPr>
        <p:spPr>
          <a:xfrm>
            <a:off x="3672919" y="2502174"/>
            <a:ext cx="900000" cy="900000"/>
          </a:xfrm>
          <a:prstGeom prst="flowChartConnector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400" dirty="0">
                <a:solidFill>
                  <a:schemeClr val="tx1"/>
                </a:solidFill>
              </a:rPr>
              <a:t>Máslo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8A19F733-B1A1-B863-ABA0-994F981EDE15}"/>
              </a:ext>
            </a:extLst>
          </p:cNvPr>
          <p:cNvSpPr/>
          <p:nvPr/>
        </p:nvSpPr>
        <p:spPr>
          <a:xfrm>
            <a:off x="5203902" y="3959377"/>
            <a:ext cx="900000" cy="900000"/>
          </a:xfrm>
          <a:prstGeom prst="flowChartConnector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400" dirty="0">
                <a:solidFill>
                  <a:schemeClr val="tx1"/>
                </a:solidFill>
              </a:rPr>
              <a:t>Sýr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0CB1633D-D361-E2BE-2D9D-719231380C1E}"/>
              </a:ext>
            </a:extLst>
          </p:cNvPr>
          <p:cNvSpPr/>
          <p:nvPr/>
        </p:nvSpPr>
        <p:spPr>
          <a:xfrm>
            <a:off x="720000" y="5072563"/>
            <a:ext cx="900000" cy="900000"/>
          </a:xfrm>
          <a:prstGeom prst="flowChartConnector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400" dirty="0">
                <a:solidFill>
                  <a:schemeClr val="tx1"/>
                </a:solidFill>
              </a:rPr>
              <a:t>Chléb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BEE01C27-7DA7-980D-171A-20094A0C0E7C}"/>
              </a:ext>
            </a:extLst>
          </p:cNvPr>
          <p:cNvSpPr/>
          <p:nvPr/>
        </p:nvSpPr>
        <p:spPr>
          <a:xfrm>
            <a:off x="7379538" y="5109393"/>
            <a:ext cx="900000" cy="900000"/>
          </a:xfrm>
          <a:prstGeom prst="flowChartConnector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400" dirty="0">
                <a:solidFill>
                  <a:schemeClr val="tx1"/>
                </a:solidFill>
              </a:rPr>
              <a:t>Cukr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B3B0260-7366-5CFF-D792-CB7258F171E9}"/>
              </a:ext>
            </a:extLst>
          </p:cNvPr>
          <p:cNvCxnSpPr>
            <a:stCxn id="7" idx="4"/>
            <a:endCxn id="12" idx="0"/>
          </p:cNvCxnSpPr>
          <p:nvPr/>
        </p:nvCxnSpPr>
        <p:spPr>
          <a:xfrm>
            <a:off x="7829538" y="3420269"/>
            <a:ext cx="0" cy="16891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CB3BE0C-B678-1E24-B63B-F904703C66E6}"/>
              </a:ext>
            </a:extLst>
          </p:cNvPr>
          <p:cNvCxnSpPr>
            <a:stCxn id="7" idx="3"/>
            <a:endCxn id="10" idx="6"/>
          </p:cNvCxnSpPr>
          <p:nvPr/>
        </p:nvCxnSpPr>
        <p:spPr>
          <a:xfrm flipH="1">
            <a:off x="6103902" y="3288467"/>
            <a:ext cx="1407438" cy="11209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89CC15C-AECD-C09A-CB0B-891E1CFA606C}"/>
              </a:ext>
            </a:extLst>
          </p:cNvPr>
          <p:cNvCxnSpPr>
            <a:cxnSpLocks/>
            <a:stCxn id="8" idx="7"/>
            <a:endCxn id="10" idx="3"/>
          </p:cNvCxnSpPr>
          <p:nvPr/>
        </p:nvCxnSpPr>
        <p:spPr>
          <a:xfrm flipV="1">
            <a:off x="3882569" y="4727575"/>
            <a:ext cx="1453135" cy="5136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216CEBD-4453-677B-C40B-C327F809640E}"/>
              </a:ext>
            </a:extLst>
          </p:cNvPr>
          <p:cNvCxnSpPr>
            <a:cxnSpLocks/>
            <a:stCxn id="8" idx="1"/>
            <a:endCxn id="11" idx="7"/>
          </p:cNvCxnSpPr>
          <p:nvPr/>
        </p:nvCxnSpPr>
        <p:spPr>
          <a:xfrm flipH="1" flipV="1">
            <a:off x="1488198" y="5204365"/>
            <a:ext cx="1757975" cy="368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6BBD261-7249-BEB5-AB48-33CBC0A005A7}"/>
              </a:ext>
            </a:extLst>
          </p:cNvPr>
          <p:cNvCxnSpPr>
            <a:cxnSpLocks/>
            <a:stCxn id="8" idx="2"/>
            <a:endCxn id="11" idx="6"/>
          </p:cNvCxnSpPr>
          <p:nvPr/>
        </p:nvCxnSpPr>
        <p:spPr>
          <a:xfrm flipH="1" flipV="1">
            <a:off x="1620000" y="5522563"/>
            <a:ext cx="1494371" cy="368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2D675D4-7D1E-68AE-10EE-2B43A10CBEC8}"/>
              </a:ext>
            </a:extLst>
          </p:cNvPr>
          <p:cNvCxnSpPr>
            <a:stCxn id="6" idx="6"/>
            <a:endCxn id="9" idx="2"/>
          </p:cNvCxnSpPr>
          <p:nvPr/>
        </p:nvCxnSpPr>
        <p:spPr>
          <a:xfrm flipV="1">
            <a:off x="1620000" y="2952174"/>
            <a:ext cx="2052919" cy="180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9967E8B-D7FB-6E75-C2F1-94CD13DCE70F}"/>
              </a:ext>
            </a:extLst>
          </p:cNvPr>
          <p:cNvCxnSpPr>
            <a:stCxn id="6" idx="4"/>
            <a:endCxn id="11" idx="0"/>
          </p:cNvCxnSpPr>
          <p:nvPr/>
        </p:nvCxnSpPr>
        <p:spPr>
          <a:xfrm>
            <a:off x="1170000" y="3420269"/>
            <a:ext cx="0" cy="1652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D4E1BF3-88E5-1311-983C-3E42C7DF4B81}"/>
              </a:ext>
            </a:extLst>
          </p:cNvPr>
          <p:cNvCxnSpPr>
            <a:stCxn id="6" idx="5"/>
            <a:endCxn id="10" idx="2"/>
          </p:cNvCxnSpPr>
          <p:nvPr/>
        </p:nvCxnSpPr>
        <p:spPr>
          <a:xfrm>
            <a:off x="1488198" y="3288467"/>
            <a:ext cx="3715704" cy="11209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D8D004A-8C9D-A04B-CCB8-D3FC8D5A7D7D}"/>
              </a:ext>
            </a:extLst>
          </p:cNvPr>
          <p:cNvSpPr txBox="1"/>
          <p:nvPr/>
        </p:nvSpPr>
        <p:spPr>
          <a:xfrm>
            <a:off x="700502" y="3590724"/>
            <a:ext cx="89999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cs-CZ" sz="1400" dirty="0"/>
              <a:t>4 ks</a:t>
            </a:r>
          </a:p>
          <a:p>
            <a:r>
              <a:rPr lang="cs-CZ" sz="1400" dirty="0"/>
              <a:t>06/01/24</a:t>
            </a:r>
            <a:endParaRPr lang="en-GB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7C2217-D8E8-25CD-3903-0FA5A18C6BAE}"/>
              </a:ext>
            </a:extLst>
          </p:cNvPr>
          <p:cNvSpPr txBox="1"/>
          <p:nvPr/>
        </p:nvSpPr>
        <p:spPr>
          <a:xfrm rot="1062652">
            <a:off x="2424575" y="3502439"/>
            <a:ext cx="89999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cs-CZ" sz="1400" dirty="0"/>
              <a:t>2 ks</a:t>
            </a:r>
          </a:p>
          <a:p>
            <a:r>
              <a:rPr lang="cs-CZ" sz="1400" dirty="0"/>
              <a:t>06/01/24</a:t>
            </a:r>
            <a:endParaRPr lang="en-GB" sz="1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9AB825-AA85-2DAD-27CD-2BE9EB2AAC84}"/>
              </a:ext>
            </a:extLst>
          </p:cNvPr>
          <p:cNvSpPr txBox="1"/>
          <p:nvPr/>
        </p:nvSpPr>
        <p:spPr>
          <a:xfrm>
            <a:off x="2196461" y="2759648"/>
            <a:ext cx="89999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cs-CZ" sz="1400" dirty="0"/>
              <a:t>1 ks</a:t>
            </a:r>
          </a:p>
          <a:p>
            <a:r>
              <a:rPr lang="cs-CZ" sz="1400" dirty="0"/>
              <a:t>14/03/24</a:t>
            </a:r>
            <a:endParaRPr lang="en-GB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0F9278-36E9-85E8-9A70-9A5AB0C04322}"/>
              </a:ext>
            </a:extLst>
          </p:cNvPr>
          <p:cNvSpPr txBox="1"/>
          <p:nvPr/>
        </p:nvSpPr>
        <p:spPr>
          <a:xfrm rot="20337978">
            <a:off x="4117508" y="4732995"/>
            <a:ext cx="89999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cs-CZ" sz="1400" dirty="0"/>
              <a:t>4 ks</a:t>
            </a:r>
          </a:p>
          <a:p>
            <a:r>
              <a:rPr lang="cs-CZ" sz="1400" dirty="0"/>
              <a:t>14/03/24</a:t>
            </a:r>
            <a:endParaRPr lang="en-GB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49BAEF-AC25-F30C-6490-8B60CBE457B8}"/>
              </a:ext>
            </a:extLst>
          </p:cNvPr>
          <p:cNvSpPr txBox="1"/>
          <p:nvPr/>
        </p:nvSpPr>
        <p:spPr>
          <a:xfrm>
            <a:off x="1987285" y="5486173"/>
            <a:ext cx="89999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cs-CZ" sz="1400" dirty="0"/>
              <a:t>1 ks</a:t>
            </a:r>
          </a:p>
          <a:p>
            <a:r>
              <a:rPr lang="cs-CZ" sz="1400" dirty="0"/>
              <a:t>12/03/24</a:t>
            </a:r>
            <a:endParaRPr lang="en-GB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34F62A-96E6-6E0B-13F9-67BBDB6D3BE5}"/>
              </a:ext>
            </a:extLst>
          </p:cNvPr>
          <p:cNvSpPr txBox="1"/>
          <p:nvPr/>
        </p:nvSpPr>
        <p:spPr>
          <a:xfrm>
            <a:off x="1987285" y="4760287"/>
            <a:ext cx="89999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cs-CZ" sz="1400" dirty="0"/>
              <a:t>3 ks</a:t>
            </a:r>
          </a:p>
          <a:p>
            <a:r>
              <a:rPr lang="cs-CZ" sz="1400" dirty="0"/>
              <a:t>14/03/24</a:t>
            </a:r>
            <a:endParaRPr lang="en-GB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17E2EC-6F41-FDEE-BA16-1D2B16243FDE}"/>
              </a:ext>
            </a:extLst>
          </p:cNvPr>
          <p:cNvSpPr txBox="1"/>
          <p:nvPr/>
        </p:nvSpPr>
        <p:spPr>
          <a:xfrm>
            <a:off x="7379538" y="3882054"/>
            <a:ext cx="89999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cs-CZ" sz="1400" dirty="0"/>
              <a:t>6 ks</a:t>
            </a:r>
          </a:p>
          <a:p>
            <a:r>
              <a:rPr lang="cs-CZ" sz="1400" dirty="0"/>
              <a:t>31/08/22</a:t>
            </a:r>
            <a:endParaRPr lang="en-GB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F359B0-559A-3612-2535-0E3FDE392CEC}"/>
              </a:ext>
            </a:extLst>
          </p:cNvPr>
          <p:cNvSpPr txBox="1"/>
          <p:nvPr/>
        </p:nvSpPr>
        <p:spPr>
          <a:xfrm rot="19252011">
            <a:off x="6449812" y="3508668"/>
            <a:ext cx="89999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cs-CZ" sz="1400" dirty="0"/>
              <a:t>2 ks</a:t>
            </a:r>
          </a:p>
          <a:p>
            <a:r>
              <a:rPr lang="cs-CZ" sz="1400" dirty="0"/>
              <a:t>22/02/23</a:t>
            </a:r>
            <a:endParaRPr lang="en-GB" sz="14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0823093-E736-DA7A-1FC5-2FF7A469EBF7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4014371" y="5559393"/>
            <a:ext cx="33651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3F004B6-1CD1-93E6-016F-3BFEB7F8D2B0}"/>
              </a:ext>
            </a:extLst>
          </p:cNvPr>
          <p:cNvSpPr txBox="1"/>
          <p:nvPr/>
        </p:nvSpPr>
        <p:spPr>
          <a:xfrm>
            <a:off x="4967244" y="5336268"/>
            <a:ext cx="89999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cs-CZ" sz="1400" dirty="0"/>
              <a:t>1 ks</a:t>
            </a:r>
          </a:p>
          <a:p>
            <a:r>
              <a:rPr lang="cs-CZ" sz="1400" dirty="0"/>
              <a:t>06/02/24</a:t>
            </a:r>
            <a:endParaRPr lang="en-GB" sz="1400" dirty="0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2A5859EA-1928-C692-C254-53D142C270D3}"/>
              </a:ext>
            </a:extLst>
          </p:cNvPr>
          <p:cNvSpPr/>
          <p:nvPr/>
        </p:nvSpPr>
        <p:spPr>
          <a:xfrm>
            <a:off x="5166720" y="2520269"/>
            <a:ext cx="900000" cy="900000"/>
          </a:xfrm>
          <a:prstGeom prst="flowChartConnector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400" dirty="0">
                <a:solidFill>
                  <a:schemeClr val="tx1"/>
                </a:solidFill>
              </a:rPr>
              <a:t>Pepř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5475714-BFDC-B94F-14C1-DC5E846334DA}"/>
              </a:ext>
            </a:extLst>
          </p:cNvPr>
          <p:cNvCxnSpPr>
            <a:stCxn id="7" idx="2"/>
            <a:endCxn id="50" idx="6"/>
          </p:cNvCxnSpPr>
          <p:nvPr/>
        </p:nvCxnSpPr>
        <p:spPr>
          <a:xfrm flipH="1">
            <a:off x="6066720" y="2970269"/>
            <a:ext cx="13128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EAB63AC-27AB-E6E6-79EC-EBD12F046D1E}"/>
              </a:ext>
            </a:extLst>
          </p:cNvPr>
          <p:cNvSpPr txBox="1"/>
          <p:nvPr/>
        </p:nvSpPr>
        <p:spPr>
          <a:xfrm>
            <a:off x="6291722" y="2708659"/>
            <a:ext cx="89999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cs-CZ" sz="1400" dirty="0"/>
              <a:t>1 ks</a:t>
            </a:r>
          </a:p>
          <a:p>
            <a:r>
              <a:rPr lang="cs-CZ" sz="1400" dirty="0"/>
              <a:t>11/12/23</a:t>
            </a:r>
            <a:endParaRPr lang="en-GB" sz="1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F036A11-E6B6-6F38-8EC6-6D60A9215F15}"/>
              </a:ext>
            </a:extLst>
          </p:cNvPr>
          <p:cNvSpPr txBox="1"/>
          <p:nvPr/>
        </p:nvSpPr>
        <p:spPr>
          <a:xfrm>
            <a:off x="776532" y="2441131"/>
            <a:ext cx="747935" cy="2769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sz="1200" dirty="0"/>
              <a:t>Zákazník</a:t>
            </a:r>
            <a:endParaRPr lang="en-GB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A6EF341-453E-46E9-6B31-1A9B8F3C58B5}"/>
              </a:ext>
            </a:extLst>
          </p:cNvPr>
          <p:cNvSpPr txBox="1"/>
          <p:nvPr/>
        </p:nvSpPr>
        <p:spPr>
          <a:xfrm>
            <a:off x="3190403" y="5827994"/>
            <a:ext cx="747935" cy="2769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sz="1200" dirty="0"/>
              <a:t>Zákazník</a:t>
            </a:r>
            <a:endParaRPr lang="en-GB" sz="1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66DA6F4-EAC6-8D69-F8EB-84B4935D15CE}"/>
              </a:ext>
            </a:extLst>
          </p:cNvPr>
          <p:cNvSpPr txBox="1"/>
          <p:nvPr/>
        </p:nvSpPr>
        <p:spPr>
          <a:xfrm>
            <a:off x="7455567" y="2424668"/>
            <a:ext cx="747935" cy="2769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sz="1200" dirty="0"/>
              <a:t>Zákazník</a:t>
            </a:r>
            <a:endParaRPr lang="en-GB" sz="12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4AAB1E-FA05-E76A-2847-049FFA894360}"/>
              </a:ext>
            </a:extLst>
          </p:cNvPr>
          <p:cNvSpPr txBox="1"/>
          <p:nvPr/>
        </p:nvSpPr>
        <p:spPr>
          <a:xfrm>
            <a:off x="3762376" y="2425364"/>
            <a:ext cx="747935" cy="276999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sz="1200" dirty="0"/>
              <a:t>Produkt</a:t>
            </a:r>
            <a:endParaRPr lang="en-GB" sz="12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9C81CCD-5178-4876-A5F1-76C1C190F026}"/>
              </a:ext>
            </a:extLst>
          </p:cNvPr>
          <p:cNvSpPr txBox="1"/>
          <p:nvPr/>
        </p:nvSpPr>
        <p:spPr>
          <a:xfrm>
            <a:off x="5239687" y="2447135"/>
            <a:ext cx="747935" cy="276999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sz="1200" dirty="0"/>
              <a:t>Produkt</a:t>
            </a:r>
            <a:endParaRPr lang="en-GB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755A35-688F-C340-9A68-7F9AA6087CB7}"/>
              </a:ext>
            </a:extLst>
          </p:cNvPr>
          <p:cNvSpPr txBox="1"/>
          <p:nvPr/>
        </p:nvSpPr>
        <p:spPr>
          <a:xfrm>
            <a:off x="796032" y="5827468"/>
            <a:ext cx="747935" cy="276999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sz="1200" dirty="0"/>
              <a:t>Produkt</a:t>
            </a:r>
            <a:endParaRPr lang="en-GB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D987851-E38C-CED3-97B5-D048ED978E23}"/>
              </a:ext>
            </a:extLst>
          </p:cNvPr>
          <p:cNvSpPr txBox="1"/>
          <p:nvPr/>
        </p:nvSpPr>
        <p:spPr>
          <a:xfrm>
            <a:off x="5278854" y="3861551"/>
            <a:ext cx="747935" cy="276999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sz="1200" dirty="0"/>
              <a:t>Produkt</a:t>
            </a:r>
            <a:endParaRPr lang="en-GB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9BAC82-839E-8E59-DFF0-69E6E5A23A6E}"/>
              </a:ext>
            </a:extLst>
          </p:cNvPr>
          <p:cNvSpPr txBox="1"/>
          <p:nvPr/>
        </p:nvSpPr>
        <p:spPr>
          <a:xfrm>
            <a:off x="7455566" y="5827995"/>
            <a:ext cx="747935" cy="276999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sz="1200" dirty="0"/>
              <a:t>Produkt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864091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F6E86D-DE4D-595E-7AFE-B0A3134D0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78900E-D821-7A95-A8DC-1E308BB8D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Dotazování v grafu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1B9056-D539-13F5-3A68-5C67810B7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539" y="2135302"/>
            <a:ext cx="3621600" cy="375179"/>
          </a:xfrm>
        </p:spPr>
        <p:txBody>
          <a:bodyPr/>
          <a:lstStyle/>
          <a:p>
            <a:r>
              <a:rPr lang="cs-CZ" dirty="0" err="1"/>
              <a:t>Known</a:t>
            </a:r>
            <a:r>
              <a:rPr lang="cs-CZ" dirty="0"/>
              <a:t> </a:t>
            </a:r>
            <a:r>
              <a:rPr lang="cs-CZ" dirty="0" err="1"/>
              <a:t>walk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06FF20-3C33-D0C5-B969-C65EA42104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57938" y="2136555"/>
            <a:ext cx="3621600" cy="373926"/>
          </a:xfrm>
        </p:spPr>
        <p:txBody>
          <a:bodyPr/>
          <a:lstStyle/>
          <a:p>
            <a:r>
              <a:rPr lang="cs-CZ" dirty="0"/>
              <a:t>Hledání cesty</a:t>
            </a:r>
            <a:endParaRPr lang="en-GB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01A1E59-1DA2-AB66-435B-890E300DE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Jan Gaja, 21.3.2024, Katedra informatiky, Přírodovědecká fakulta, </a:t>
            </a:r>
            <a:r>
              <a:rPr lang="en-GB" dirty="0" err="1"/>
              <a:t>Univerzita</a:t>
            </a:r>
            <a:r>
              <a:rPr lang="en-GB" dirty="0"/>
              <a:t> </a:t>
            </a:r>
            <a:r>
              <a:rPr lang="en-GB" dirty="0" err="1"/>
              <a:t>Palackého</a:t>
            </a:r>
            <a:r>
              <a:rPr lang="en-GB" dirty="0"/>
              <a:t> v </a:t>
            </a:r>
            <a:r>
              <a:rPr lang="en-GB" dirty="0" err="1"/>
              <a:t>Olomouci</a:t>
            </a:r>
            <a:endParaRPr lang="cs-CZ" dirty="0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E723C606-40D4-CC24-CF70-EDEECFEAD0D8}"/>
              </a:ext>
            </a:extLst>
          </p:cNvPr>
          <p:cNvSpPr/>
          <p:nvPr/>
        </p:nvSpPr>
        <p:spPr>
          <a:xfrm>
            <a:off x="2987279" y="5149688"/>
            <a:ext cx="900000" cy="900000"/>
          </a:xfrm>
          <a:prstGeom prst="flowChartConnector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400" dirty="0">
                <a:solidFill>
                  <a:schemeClr val="tx1"/>
                </a:solidFill>
              </a:rPr>
              <a:t>Sýr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5A576796-E006-F679-DC17-B24202AC971E}"/>
              </a:ext>
            </a:extLst>
          </p:cNvPr>
          <p:cNvSpPr/>
          <p:nvPr/>
        </p:nvSpPr>
        <p:spPr>
          <a:xfrm>
            <a:off x="726479" y="3645168"/>
            <a:ext cx="900000" cy="900000"/>
          </a:xfrm>
          <a:prstGeom prst="flowChartConnector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400" dirty="0">
                <a:solidFill>
                  <a:schemeClr val="tx1"/>
                </a:solidFill>
              </a:rPr>
              <a:t>Petr</a:t>
            </a:r>
          </a:p>
          <a:p>
            <a:pPr algn="ctr"/>
            <a:r>
              <a:rPr lang="cs-CZ" sz="1400" dirty="0">
                <a:solidFill>
                  <a:schemeClr val="tx1"/>
                </a:solidFill>
              </a:rPr>
              <a:t>Holý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A7CE6192-C6EB-D0B4-8F74-FF276812D05F}"/>
              </a:ext>
            </a:extLst>
          </p:cNvPr>
          <p:cNvSpPr/>
          <p:nvPr/>
        </p:nvSpPr>
        <p:spPr>
          <a:xfrm>
            <a:off x="2987279" y="3645168"/>
            <a:ext cx="900000" cy="900000"/>
          </a:xfrm>
          <a:prstGeom prst="flowChartConnector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400" dirty="0">
                <a:solidFill>
                  <a:schemeClr val="tx1"/>
                </a:solidFill>
              </a:rPr>
              <a:t>Máslo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2A40266D-0811-1561-6B42-6B71A96CCEA5}"/>
              </a:ext>
            </a:extLst>
          </p:cNvPr>
          <p:cNvSpPr/>
          <p:nvPr/>
        </p:nvSpPr>
        <p:spPr>
          <a:xfrm>
            <a:off x="720479" y="5094865"/>
            <a:ext cx="900000" cy="900000"/>
          </a:xfrm>
          <a:prstGeom prst="flowChartConnector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400" dirty="0">
                <a:solidFill>
                  <a:schemeClr val="tx1"/>
                </a:solidFill>
              </a:rPr>
              <a:t>Chléb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DC1FA48-50F4-0A25-697C-5486BCF45E0C}"/>
              </a:ext>
            </a:extLst>
          </p:cNvPr>
          <p:cNvCxnSpPr>
            <a:stCxn id="12" idx="6"/>
            <a:endCxn id="13" idx="2"/>
          </p:cNvCxnSpPr>
          <p:nvPr/>
        </p:nvCxnSpPr>
        <p:spPr>
          <a:xfrm>
            <a:off x="1626479" y="4095168"/>
            <a:ext cx="1360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8ED35D6-C188-A630-E277-FA8A796EF670}"/>
              </a:ext>
            </a:extLst>
          </p:cNvPr>
          <p:cNvCxnSpPr>
            <a:cxnSpLocks/>
            <a:stCxn id="12" idx="4"/>
            <a:endCxn id="14" idx="0"/>
          </p:cNvCxnSpPr>
          <p:nvPr/>
        </p:nvCxnSpPr>
        <p:spPr>
          <a:xfrm flipH="1">
            <a:off x="1170479" y="4545168"/>
            <a:ext cx="6000" cy="5496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C045F4A-CF09-3BD3-B530-ADE64F9D9959}"/>
              </a:ext>
            </a:extLst>
          </p:cNvPr>
          <p:cNvCxnSpPr>
            <a:cxnSpLocks/>
            <a:stCxn id="12" idx="5"/>
            <a:endCxn id="9" idx="1"/>
          </p:cNvCxnSpPr>
          <p:nvPr/>
        </p:nvCxnSpPr>
        <p:spPr>
          <a:xfrm>
            <a:off x="1494677" y="4413366"/>
            <a:ext cx="1624404" cy="8681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0AE49666-F72A-97D5-8A0D-7E56743BA032}"/>
              </a:ext>
            </a:extLst>
          </p:cNvPr>
          <p:cNvSpPr/>
          <p:nvPr/>
        </p:nvSpPr>
        <p:spPr>
          <a:xfrm>
            <a:off x="4656261" y="3644922"/>
            <a:ext cx="900000" cy="900000"/>
          </a:xfrm>
          <a:prstGeom prst="flowChartConnector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400" dirty="0">
                <a:solidFill>
                  <a:schemeClr val="tx1"/>
                </a:solidFill>
              </a:rPr>
              <a:t>Petr</a:t>
            </a:r>
          </a:p>
          <a:p>
            <a:pPr algn="ctr"/>
            <a:r>
              <a:rPr lang="cs-CZ" sz="1400" dirty="0">
                <a:solidFill>
                  <a:schemeClr val="tx1"/>
                </a:solidFill>
              </a:rPr>
              <a:t>Novák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F3B78152-8552-DCA3-BD0B-9E88F14F5CEE}"/>
              </a:ext>
            </a:extLst>
          </p:cNvPr>
          <p:cNvSpPr/>
          <p:nvPr/>
        </p:nvSpPr>
        <p:spPr>
          <a:xfrm>
            <a:off x="6923059" y="5149688"/>
            <a:ext cx="900000" cy="900000"/>
          </a:xfrm>
          <a:prstGeom prst="flowChartConnector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400" dirty="0">
                <a:solidFill>
                  <a:schemeClr val="tx1"/>
                </a:solidFill>
              </a:rPr>
              <a:t>Jiří</a:t>
            </a:r>
          </a:p>
          <a:p>
            <a:pPr algn="ctr"/>
            <a:r>
              <a:rPr lang="cs-CZ" sz="1400" dirty="0">
                <a:solidFill>
                  <a:schemeClr val="tx1"/>
                </a:solidFill>
              </a:rPr>
              <a:t>Horák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DEF7C7D-113B-B4D8-2298-B01018C1C5E6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6669053" y="5081094"/>
            <a:ext cx="385808" cy="2003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 descr="Question Mark with solid fill">
            <a:extLst>
              <a:ext uri="{FF2B5EF4-FFF2-40B4-BE49-F238E27FC236}">
                <a16:creationId xmlns:a16="http://schemas.microsoft.com/office/drawing/2014/main" id="{5EEF865F-0324-EEA6-7767-B1322108A2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0429" y="4923651"/>
            <a:ext cx="515282" cy="515282"/>
          </a:xfrm>
          <a:prstGeom prst="rect">
            <a:avLst/>
          </a:prstGeom>
          <a:effectLst/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EC2E0F9-5C74-88B2-E4E3-1D6DD42EB379}"/>
              </a:ext>
            </a:extLst>
          </p:cNvPr>
          <p:cNvCxnSpPr>
            <a:cxnSpLocks/>
            <a:stCxn id="26" idx="5"/>
          </p:cNvCxnSpPr>
          <p:nvPr/>
        </p:nvCxnSpPr>
        <p:spPr>
          <a:xfrm>
            <a:off x="5424459" y="4413120"/>
            <a:ext cx="421614" cy="22832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6C759FE-0B4E-CF35-4775-B40845AF1F88}"/>
              </a:ext>
            </a:extLst>
          </p:cNvPr>
          <p:cNvCxnSpPr>
            <a:cxnSpLocks/>
          </p:cNvCxnSpPr>
          <p:nvPr/>
        </p:nvCxnSpPr>
        <p:spPr>
          <a:xfrm>
            <a:off x="5890429" y="4655427"/>
            <a:ext cx="737739" cy="411684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C1D3646-0EDB-0907-0A53-C3B55F9791AF}"/>
              </a:ext>
            </a:extLst>
          </p:cNvPr>
          <p:cNvSpPr txBox="1"/>
          <p:nvPr/>
        </p:nvSpPr>
        <p:spPr>
          <a:xfrm>
            <a:off x="719539" y="2598342"/>
            <a:ext cx="2385470" cy="640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Které produkty zakoupil daný zákazník?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13DEE7-594A-B440-AE55-2592BC0B3FBE}"/>
              </a:ext>
            </a:extLst>
          </p:cNvPr>
          <p:cNvSpPr txBox="1"/>
          <p:nvPr/>
        </p:nvSpPr>
        <p:spPr>
          <a:xfrm>
            <a:off x="4653338" y="2598342"/>
            <a:ext cx="2385470" cy="640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Existuje cesta mezi 2 zákazníky?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2A1F3B-0AD9-2B78-8FDD-A18A41B5A264}"/>
              </a:ext>
            </a:extLst>
          </p:cNvPr>
          <p:cNvSpPr txBox="1"/>
          <p:nvPr/>
        </p:nvSpPr>
        <p:spPr>
          <a:xfrm>
            <a:off x="3063310" y="5832409"/>
            <a:ext cx="747935" cy="276999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sz="1200" dirty="0"/>
              <a:t>Produkt</a:t>
            </a:r>
            <a:endParaRPr lang="en-GB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830A41-7D74-234E-49E9-65BC165D324C}"/>
              </a:ext>
            </a:extLst>
          </p:cNvPr>
          <p:cNvSpPr txBox="1"/>
          <p:nvPr/>
        </p:nvSpPr>
        <p:spPr>
          <a:xfrm>
            <a:off x="3063310" y="3563434"/>
            <a:ext cx="747935" cy="276999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sz="1200" dirty="0"/>
              <a:t>Produkt</a:t>
            </a:r>
            <a:endParaRPr lang="en-GB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D469A5-C482-FD5A-B1BB-7A2640DBFFAE}"/>
              </a:ext>
            </a:extLst>
          </p:cNvPr>
          <p:cNvSpPr txBox="1"/>
          <p:nvPr/>
        </p:nvSpPr>
        <p:spPr>
          <a:xfrm>
            <a:off x="796511" y="5832409"/>
            <a:ext cx="747935" cy="276999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sz="1200" dirty="0"/>
              <a:t>Produkt</a:t>
            </a:r>
            <a:endParaRPr lang="en-GB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9CEA58-2187-F544-940A-24C30DD3A061}"/>
              </a:ext>
            </a:extLst>
          </p:cNvPr>
          <p:cNvSpPr txBox="1"/>
          <p:nvPr/>
        </p:nvSpPr>
        <p:spPr>
          <a:xfrm>
            <a:off x="796511" y="3563434"/>
            <a:ext cx="747935" cy="2769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sz="1200" dirty="0"/>
              <a:t>Zákazník</a:t>
            </a:r>
            <a:endParaRPr lang="en-GB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1496EF-47E3-B669-01E5-DCAA39362A9F}"/>
              </a:ext>
            </a:extLst>
          </p:cNvPr>
          <p:cNvSpPr txBox="1"/>
          <p:nvPr/>
        </p:nvSpPr>
        <p:spPr>
          <a:xfrm>
            <a:off x="4732293" y="3564410"/>
            <a:ext cx="747935" cy="2769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sz="1200" dirty="0"/>
              <a:t>Zákazník</a:t>
            </a:r>
            <a:endParaRPr lang="en-GB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F570B3-FD83-84BD-DD16-2F7291573D3F}"/>
              </a:ext>
            </a:extLst>
          </p:cNvPr>
          <p:cNvSpPr txBox="1"/>
          <p:nvPr/>
        </p:nvSpPr>
        <p:spPr>
          <a:xfrm>
            <a:off x="6999093" y="5832163"/>
            <a:ext cx="747935" cy="2769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cs-CZ" sz="1200" dirty="0"/>
              <a:t>Zákazník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987597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B58D975-D21C-521F-2247-4616D54A8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620000"/>
            <a:ext cx="7560000" cy="748080"/>
          </a:xfrm>
        </p:spPr>
        <p:txBody>
          <a:bodyPr/>
          <a:lstStyle/>
          <a:p>
            <a:r>
              <a:rPr lang="cs-CZ" dirty="0"/>
              <a:t>Algoritmy používané v grafových databázích</a:t>
            </a:r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A7E717A-5C8F-08EA-D430-BE231BC388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2073422"/>
              </p:ext>
            </p:extLst>
          </p:nvPr>
        </p:nvGraphicFramePr>
        <p:xfrm>
          <a:off x="719932" y="2684625"/>
          <a:ext cx="7559673" cy="2535913"/>
        </p:xfrm>
        <a:graphic>
          <a:graphicData uri="http://schemas.openxmlformats.org/drawingml/2006/table">
            <a:tbl>
              <a:tblPr firstRow="1" bandRow="1">
                <a:noFill/>
                <a:tableStyleId>{B301B821-A1FF-4177-AEE7-76D212191A09}</a:tableStyleId>
              </a:tblPr>
              <a:tblGrid>
                <a:gridCol w="2519891">
                  <a:extLst>
                    <a:ext uri="{9D8B030D-6E8A-4147-A177-3AD203B41FA5}">
                      <a16:colId xmlns:a16="http://schemas.microsoft.com/office/drawing/2014/main" val="2389372638"/>
                    </a:ext>
                  </a:extLst>
                </a:gridCol>
                <a:gridCol w="2519891">
                  <a:extLst>
                    <a:ext uri="{9D8B030D-6E8A-4147-A177-3AD203B41FA5}">
                      <a16:colId xmlns:a16="http://schemas.microsoft.com/office/drawing/2014/main" val="1362157568"/>
                    </a:ext>
                  </a:extLst>
                </a:gridCol>
                <a:gridCol w="2519891">
                  <a:extLst>
                    <a:ext uri="{9D8B030D-6E8A-4147-A177-3AD203B41FA5}">
                      <a16:colId xmlns:a16="http://schemas.microsoft.com/office/drawing/2014/main" val="4116906333"/>
                    </a:ext>
                  </a:extLst>
                </a:gridCol>
              </a:tblGrid>
              <a:tr h="506863">
                <a:tc>
                  <a:txBody>
                    <a:bodyPr/>
                    <a:lstStyle/>
                    <a:p>
                      <a:pPr marL="0" marR="0" lvl="0" indent="0" algn="l" defTabSz="8999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cs-CZ" dirty="0"/>
                        <a:t>Hledání cesty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999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cs-CZ" dirty="0"/>
                        <a:t>Míra centrality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999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Detekce komunit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33291"/>
                  </a:ext>
                </a:extLst>
              </a:tr>
              <a:tr h="506863">
                <a:tc>
                  <a:txBody>
                    <a:bodyPr/>
                    <a:lstStyle/>
                    <a:p>
                      <a:pPr marL="0" marR="0" lvl="0" indent="0" algn="l" defTabSz="8999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cs-CZ" dirty="0"/>
                        <a:t>Nejkratší cesty v grafu. Minimální kostra.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999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cs-CZ" dirty="0"/>
                        <a:t>Jaký vrchol je v naší databázi nejdůležitější?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999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Skupinky hustě propojených vrcholů.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326787"/>
                  </a:ext>
                </a:extLst>
              </a:tr>
              <a:tr h="1397479">
                <a:tc>
                  <a:txBody>
                    <a:bodyPr/>
                    <a:lstStyle/>
                    <a:p>
                      <a:pPr marL="285750" indent="-285750" algn="l" defTabSz="899952" rtl="0" eaLnBrk="1" latinLnBrk="0" hangingPunct="1">
                        <a:lnSpc>
                          <a:spcPct val="90000"/>
                        </a:lnSpc>
                        <a:buFont typeface="Arial" panose="020B0604020202020204" pitchFamily="34" charset="0"/>
                        <a:buChar char="−"/>
                      </a:pPr>
                      <a:r>
                        <a:rPr lang="cs-CZ" sz="177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Djikstrův</a:t>
                      </a:r>
                      <a:r>
                        <a:rPr lang="cs-CZ" sz="177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algoritmus</a:t>
                      </a:r>
                    </a:p>
                    <a:p>
                      <a:pPr marL="285750" indent="-285750" algn="l" defTabSz="899952" rtl="0" eaLnBrk="1" latinLnBrk="0" hangingPunct="1">
                        <a:lnSpc>
                          <a:spcPct val="90000"/>
                        </a:lnSpc>
                        <a:buFont typeface="Arial" panose="020B0604020202020204" pitchFamily="34" charset="0"/>
                        <a:buChar char="−"/>
                      </a:pPr>
                      <a:r>
                        <a:rPr lang="cs-CZ" sz="177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A*</a:t>
                      </a:r>
                    </a:p>
                    <a:p>
                      <a:pPr marL="285750" indent="-285750" algn="l" defTabSz="899952" rtl="0" eaLnBrk="1" latinLnBrk="0" hangingPunct="1">
                        <a:lnSpc>
                          <a:spcPct val="90000"/>
                        </a:lnSpc>
                        <a:buFont typeface="Arial" panose="020B0604020202020204" pitchFamily="34" charset="0"/>
                        <a:buChar char="−"/>
                      </a:pPr>
                      <a:r>
                        <a:rPr lang="cs-CZ" sz="177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Random</a:t>
                      </a:r>
                      <a:r>
                        <a:rPr lang="cs-CZ" sz="177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cs-CZ" sz="177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Walk</a:t>
                      </a:r>
                      <a:endParaRPr lang="cs-CZ" sz="177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indent="-285750" algn="l" defTabSz="899952" rtl="0" eaLnBrk="1" latinLnBrk="0" hangingPunct="1">
                        <a:lnSpc>
                          <a:spcPct val="90000"/>
                        </a:lnSpc>
                        <a:buFont typeface="Arial" panose="020B0604020202020204" pitchFamily="34" charset="0"/>
                        <a:buChar char="−"/>
                      </a:pPr>
                      <a:r>
                        <a:rPr lang="cs-CZ" sz="177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Minimum </a:t>
                      </a:r>
                      <a:r>
                        <a:rPr lang="cs-CZ" sz="177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spanning</a:t>
                      </a:r>
                      <a:r>
                        <a:rPr lang="cs-CZ" sz="177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cs-CZ" sz="177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tree</a:t>
                      </a:r>
                      <a:endParaRPr lang="en-GB" sz="177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defTabSz="899952" rtl="0" eaLnBrk="1" latinLnBrk="0" hangingPunct="1">
                        <a:lnSpc>
                          <a:spcPct val="90000"/>
                        </a:lnSpc>
                        <a:buFont typeface="Arial" panose="020B0604020202020204" pitchFamily="34" charset="0"/>
                        <a:buChar char="−"/>
                      </a:pPr>
                      <a:r>
                        <a:rPr lang="cs-CZ" sz="177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Degree</a:t>
                      </a:r>
                      <a:r>
                        <a:rPr lang="cs-CZ" sz="177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centrality</a:t>
                      </a:r>
                    </a:p>
                    <a:p>
                      <a:pPr marL="285750" indent="-285750" algn="l" defTabSz="899952" rtl="0" eaLnBrk="1" latinLnBrk="0" hangingPunct="1">
                        <a:lnSpc>
                          <a:spcPct val="90000"/>
                        </a:lnSpc>
                        <a:buFont typeface="Arial" panose="020B0604020202020204" pitchFamily="34" charset="0"/>
                        <a:buChar char="−"/>
                      </a:pPr>
                      <a:r>
                        <a:rPr lang="cs-CZ" sz="177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Closeness</a:t>
                      </a:r>
                      <a:r>
                        <a:rPr lang="cs-CZ" sz="177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centrality</a:t>
                      </a:r>
                    </a:p>
                    <a:p>
                      <a:pPr marL="285750" indent="-285750" algn="l" defTabSz="899952" rtl="0" eaLnBrk="1" latinLnBrk="0" hangingPunct="1">
                        <a:lnSpc>
                          <a:spcPct val="90000"/>
                        </a:lnSpc>
                        <a:buFont typeface="Arial" panose="020B0604020202020204" pitchFamily="34" charset="0"/>
                        <a:buChar char="−"/>
                      </a:pPr>
                      <a:r>
                        <a:rPr lang="cs-CZ" sz="177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Betweeness</a:t>
                      </a:r>
                      <a:r>
                        <a:rPr lang="cs-CZ" sz="177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centrality</a:t>
                      </a:r>
                    </a:p>
                    <a:p>
                      <a:pPr marL="285750" indent="-285750" algn="l" defTabSz="899952" rtl="0" eaLnBrk="1" latinLnBrk="0" hangingPunct="1">
                        <a:lnSpc>
                          <a:spcPct val="90000"/>
                        </a:lnSpc>
                        <a:buFont typeface="Arial" panose="020B0604020202020204" pitchFamily="34" charset="0"/>
                        <a:buChar char="−"/>
                      </a:pPr>
                      <a:r>
                        <a:rPr lang="cs-CZ" sz="177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Page</a:t>
                      </a:r>
                      <a:r>
                        <a:rPr lang="cs-CZ" sz="177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Rank</a:t>
                      </a:r>
                      <a:endParaRPr lang="en-GB" sz="177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defTabSz="899952" rtl="0" eaLnBrk="1" latinLnBrk="0" hangingPunct="1">
                        <a:lnSpc>
                          <a:spcPct val="90000"/>
                        </a:lnSpc>
                        <a:buFont typeface="Arial" panose="020B0604020202020204" pitchFamily="34" charset="0"/>
                        <a:buChar char="−"/>
                      </a:pPr>
                      <a:r>
                        <a:rPr lang="cs-CZ" sz="177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Počítání trojúhelníků</a:t>
                      </a:r>
                    </a:p>
                    <a:p>
                      <a:pPr marL="285750" indent="-285750" algn="l" defTabSz="899952" rtl="0" eaLnBrk="1" latinLnBrk="0" hangingPunct="1">
                        <a:lnSpc>
                          <a:spcPct val="90000"/>
                        </a:lnSpc>
                        <a:buFont typeface="Arial" panose="020B0604020202020204" pitchFamily="34" charset="0"/>
                        <a:buChar char="−"/>
                      </a:pPr>
                      <a:r>
                        <a:rPr lang="cs-CZ" sz="177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Clustering</a:t>
                      </a:r>
                      <a:r>
                        <a:rPr lang="cs-CZ" sz="177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cs-CZ" sz="177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coefficient</a:t>
                      </a:r>
                      <a:endParaRPr lang="cs-CZ" sz="177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indent="-285750" algn="l" defTabSz="899952" rtl="0" eaLnBrk="1" latinLnBrk="0" hangingPunct="1">
                        <a:lnSpc>
                          <a:spcPct val="90000"/>
                        </a:lnSpc>
                        <a:buFont typeface="Arial" panose="020B0604020202020204" pitchFamily="34" charset="0"/>
                        <a:buChar char="−"/>
                      </a:pPr>
                      <a:r>
                        <a:rPr lang="cs-CZ" sz="177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Hledání komponent</a:t>
                      </a:r>
                    </a:p>
                    <a:p>
                      <a:pPr marL="285750" indent="-285750" algn="l" defTabSz="899952" rtl="0" eaLnBrk="1" latinLnBrk="0" hangingPunct="1">
                        <a:lnSpc>
                          <a:spcPct val="90000"/>
                        </a:lnSpc>
                        <a:buFont typeface="Arial" panose="020B0604020202020204" pitchFamily="34" charset="0"/>
                        <a:buChar char="−"/>
                      </a:pPr>
                      <a:r>
                        <a:rPr lang="cs-CZ" sz="177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Algoritmus </a:t>
                      </a:r>
                      <a:r>
                        <a:rPr lang="cs-CZ" sz="177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Louvain</a:t>
                      </a:r>
                      <a:endParaRPr lang="en-GB" sz="177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77229"/>
                  </a:ext>
                </a:extLst>
              </a:tr>
            </a:tbl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69E7AD8-7DDA-B39F-48E5-F4E7FA7E3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0000" y="6450675"/>
            <a:ext cx="7118902" cy="216000"/>
          </a:xfrm>
        </p:spPr>
        <p:txBody>
          <a:bodyPr anchor="b">
            <a:normAutofit/>
          </a:bodyPr>
          <a:lstStyle/>
          <a:p>
            <a:r>
              <a:rPr lang="cs-CZ" dirty="0"/>
              <a:t>Jan Gaja, 21.3.2024, Katedra informatiky, Přírodovědecká fakulta, </a:t>
            </a:r>
            <a:r>
              <a:rPr lang="en-GB" dirty="0" err="1"/>
              <a:t>Univerzita</a:t>
            </a:r>
            <a:r>
              <a:rPr lang="en-GB" dirty="0"/>
              <a:t> </a:t>
            </a:r>
            <a:r>
              <a:rPr lang="en-GB" dirty="0" err="1"/>
              <a:t>Palackého</a:t>
            </a:r>
            <a:r>
              <a:rPr lang="en-GB" dirty="0"/>
              <a:t> v </a:t>
            </a:r>
            <a:r>
              <a:rPr lang="en-GB" dirty="0" err="1"/>
              <a:t>Olomouci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23593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21AD6-1B99-6A32-110C-B829FFF5E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7EFE1E-430B-D289-8B55-72FE25CB7A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Grafové databáze – přehled a srovnání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F5AA5C9-A765-BAEF-8283-7EE9667030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Prezentace k obhajobě bakalářské práce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3A29A68-FAAE-7437-F5DC-191E3C3A4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/>
              <a:t>Jan Gaja, 21.3.2024, Katedra informatiky, Přírodovědecká fakulta, Univerzita Palackého v Olomouci</a:t>
            </a:r>
          </a:p>
        </p:txBody>
      </p:sp>
    </p:spTree>
    <p:extLst>
      <p:ext uri="{BB962C8B-B14F-4D97-AF65-F5344CB8AC3E}">
        <p14:creationId xmlns:p14="http://schemas.microsoft.com/office/powerpoint/2010/main" val="96054319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UP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6BAB"/>
      </a:accent1>
      <a:accent2>
        <a:srgbClr val="6C6D70"/>
      </a:accent2>
      <a:accent3>
        <a:srgbClr val="A5A5A5"/>
      </a:accent3>
      <a:accent4>
        <a:srgbClr val="ED7D31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iv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P_Prezentace_2.potx" id="{755D0361-9207-4673-B4A5-8DE80FB40899}" vid="{B1A348AD-3F36-40BB-80C1-28390A7D89FC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UP_prezentace_cz_4x3</Template>
  <TotalTime>4571</TotalTime>
  <Words>666</Words>
  <Application>Microsoft Office PowerPoint</Application>
  <PresentationFormat>Custom</PresentationFormat>
  <Paragraphs>180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Motiv Office</vt:lpstr>
      <vt:lpstr>Grafové databáze – přehled a srovnání</vt:lpstr>
      <vt:lpstr>Grafové databáze</vt:lpstr>
      <vt:lpstr>Popularita grafových databází</vt:lpstr>
      <vt:lpstr>Výhody grafové databáze</vt:lpstr>
      <vt:lpstr>Nevýhody grafové databáze</vt:lpstr>
      <vt:lpstr>Implementace grafových databází</vt:lpstr>
      <vt:lpstr>Dotazovací jazyky v grafových databázích</vt:lpstr>
      <vt:lpstr>Modelování grafových dat</vt:lpstr>
      <vt:lpstr>Modelování lze rozdělit do 4 fází:</vt:lpstr>
      <vt:lpstr>Příklad uchovávaného grafu</vt:lpstr>
      <vt:lpstr>Dotazování v grafu</vt:lpstr>
      <vt:lpstr>Algoritmy používané v grafových databázích</vt:lpstr>
      <vt:lpstr>Grafové databáze – přehled a srovnání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Grafové databáze – přehled a srovnání</dc:title>
  <dc:creator>Jan Gaja</dc:creator>
  <cp:lastModifiedBy>jan gaja</cp:lastModifiedBy>
  <cp:revision>6</cp:revision>
  <dcterms:created xsi:type="dcterms:W3CDTF">2024-03-05T12:56:13Z</dcterms:created>
  <dcterms:modified xsi:type="dcterms:W3CDTF">2024-03-20T12:46:21Z</dcterms:modified>
</cp:coreProperties>
</file>