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8" r:id="rId2"/>
    <p:sldId id="259" r:id="rId3"/>
    <p:sldId id="262" r:id="rId4"/>
    <p:sldId id="263" r:id="rId5"/>
    <p:sldId id="264" r:id="rId6"/>
    <p:sldId id="265" r:id="rId7"/>
    <p:sldId id="266" r:id="rId8"/>
    <p:sldId id="260" r:id="rId9"/>
  </p:sldIdLst>
  <p:sldSz cx="8999538" cy="6840538"/>
  <p:notesSz cx="6858000" cy="9144000"/>
  <p:defaultTextStyle>
    <a:defPPr>
      <a:defRPr lang="cs-CZ"/>
    </a:defPPr>
    <a:lvl1pPr marL="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1pPr>
    <a:lvl2pPr marL="452537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2pPr>
    <a:lvl3pPr marL="90507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3pPr>
    <a:lvl4pPr marL="135761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4pPr>
    <a:lvl5pPr marL="181014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5pPr>
    <a:lvl6pPr marL="226268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6pPr>
    <a:lvl7pPr marL="2715219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7pPr>
    <a:lvl8pPr marL="316775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8pPr>
    <a:lvl9pPr marL="3620292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28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0" d="100"/>
          <a:sy n="120" d="100"/>
        </p:scale>
        <p:origin x="1380" y="84"/>
      </p:cViewPr>
      <p:guideLst>
        <p:guide orient="horz" pos="2154"/>
        <p:guide pos="2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C1901-92BB-4FDD-BA03-8B5D36861ACA}" type="datetimeFigureOut">
              <a:rPr lang="cs-CZ" smtClean="0"/>
              <a:t>05.03.2024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98588" y="1143000"/>
            <a:ext cx="4060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EE4EC-FC1D-4A5C-A5BA-DA124659C1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403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7231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6313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8117B-9F64-B32F-4CD3-69A984F35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EBFA741B-6EA8-1CC0-3790-AE6E478B4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3B09810F-1DC1-F9CD-469B-5396A3931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2180AB7-71EA-2BD0-CFD3-DDA8FE917A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4342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E7A97-1382-2193-0940-1CAE3CAC5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70E9CB1-76A3-5D46-427A-E63CE4364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BBA6E318-2EA6-F55A-E564-B3233F546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127B4BD-6F74-05C2-E8BF-A075CF778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0589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9324-426B-7714-561A-E04EC4749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2C36F798-87E5-68DC-85E4-1B29983B8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9468B9FD-075F-ABBF-8D91-E7DE5610D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7CFD7A1-45B8-031E-074F-62272510B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1532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67CD6-E8D4-BEAA-946E-75AA87D5F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712957C-0340-A2CB-7D8E-68127C841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92ABDDF-731A-A44D-4518-C9B133C80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61D308D-B3DB-F013-E5D4-905D16FC7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3172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802C-AFB7-5105-4DC6-D1D015FC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A894403F-301A-0910-9D01-36B5D6851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E2B759BD-D620-7FE4-50D9-49D7BE8FE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2F6C6FD-971B-F47A-0FA2-093D98C9C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48886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6907-2D51-CCF4-8B9B-2D50FC718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F7C0F50A-D6B6-FB62-21E8-3A94EB939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036B4BD9-3BFE-174D-6324-21B7F89D7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EAE2BFE-1A93-5A5B-4C88-8BEF83721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875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0000" y="6450675"/>
            <a:ext cx="6840000" cy="216000"/>
          </a:xfrm>
        </p:spPr>
        <p:txBody>
          <a:bodyPr/>
          <a:lstStyle/>
          <a:p>
            <a:pPr algn="ctr"/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699" y="2904775"/>
            <a:ext cx="3342139" cy="103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7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1980001"/>
            <a:ext cx="7560000" cy="1612866"/>
          </a:xfrm>
        </p:spPr>
        <p:txBody>
          <a:bodyPr anchor="t">
            <a:normAutofit/>
          </a:bodyPr>
          <a:lstStyle>
            <a:lvl1pPr algn="l"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000" y="3592866"/>
            <a:ext cx="7560000" cy="1552712"/>
          </a:xfrm>
        </p:spPr>
        <p:txBody>
          <a:bodyPr/>
          <a:lstStyle>
            <a:lvl1pPr marL="0" indent="0" algn="l">
              <a:buNone/>
              <a:defRPr sz="2362">
                <a:solidFill>
                  <a:schemeClr val="accent2"/>
                </a:solidFill>
              </a:defRPr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172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4380949"/>
            <a:ext cx="7560000" cy="982528"/>
          </a:xfrm>
        </p:spPr>
        <p:txBody>
          <a:bodyPr anchor="t">
            <a:normAutofit/>
          </a:bodyPr>
          <a:lstStyle>
            <a:lvl1pPr algn="ctr"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000" y="5363477"/>
            <a:ext cx="7560000" cy="945883"/>
          </a:xfrm>
        </p:spPr>
        <p:txBody>
          <a:bodyPr/>
          <a:lstStyle>
            <a:lvl1pPr marL="0" indent="0" algn="ctr">
              <a:buNone/>
              <a:defRPr sz="2362">
                <a:solidFill>
                  <a:schemeClr val="accent2"/>
                </a:solidFill>
              </a:defRPr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80000" y="6450675"/>
            <a:ext cx="6840000" cy="216000"/>
          </a:xfrm>
        </p:spPr>
        <p:txBody>
          <a:bodyPr/>
          <a:lstStyle/>
          <a:p>
            <a:pPr algn="ctr"/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915" y="1260000"/>
            <a:ext cx="2203708" cy="182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4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534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462400"/>
            <a:ext cx="3622702" cy="389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298" y="2462400"/>
            <a:ext cx="3622702" cy="389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238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7560000" cy="748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368800"/>
            <a:ext cx="3621600" cy="693376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3151650"/>
            <a:ext cx="3621600" cy="320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8400" y="2368800"/>
            <a:ext cx="3621600" cy="693376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8400" y="3151650"/>
            <a:ext cx="3621600" cy="3209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127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247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81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3004102" cy="748800"/>
          </a:xfrm>
        </p:spPr>
        <p:txBody>
          <a:bodyPr anchor="b"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620000"/>
            <a:ext cx="4454024" cy="47332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458274"/>
            <a:ext cx="3004102" cy="3902926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885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7560000" cy="74808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460567"/>
            <a:ext cx="7560000" cy="38986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450675"/>
            <a:ext cx="7118902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63593" y="6450675"/>
            <a:ext cx="31640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B6205-E093-439F-9685-8F7A4FC3F425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Obrázek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540000"/>
            <a:ext cx="2560325" cy="7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3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3" r:id="rId2"/>
    <p:sldLayoutId id="2147483685" r:id="rId3"/>
    <p:sldLayoutId id="2147483674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dt="0"/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6700" indent="-266700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−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39750" indent="-273050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8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06450" indent="-266700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6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71563" indent="-265113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4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46200" indent="-27463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−"/>
        <a:defRPr sz="140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Grafové databáze – přehled a srovnání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Prezentace k obhajobě bakalářské práce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/>
              <a:t>Jan Gaja, 21.3.2024, Katedra informatiky, Přírodovědecká fakulta, Univerzita Palackého v Olomouci</a:t>
            </a:r>
          </a:p>
        </p:txBody>
      </p:sp>
    </p:spTree>
    <p:extLst>
      <p:ext uri="{BB962C8B-B14F-4D97-AF65-F5344CB8AC3E}">
        <p14:creationId xmlns:p14="http://schemas.microsoft.com/office/powerpoint/2010/main" val="2874114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Grafové databáze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Založené na oboru diskrétní matematiky – teorie grafů</a:t>
            </a:r>
          </a:p>
          <a:p>
            <a:r>
              <a:rPr lang="cs-CZ" dirty="0"/>
              <a:t>Nativní grafové databáze</a:t>
            </a:r>
          </a:p>
          <a:p>
            <a:pPr lvl="1"/>
            <a:r>
              <a:rPr lang="cs-CZ" dirty="0"/>
              <a:t>Index-free </a:t>
            </a:r>
            <a:r>
              <a:rPr lang="cs-CZ" dirty="0" err="1"/>
              <a:t>adjacency</a:t>
            </a:r>
            <a:endParaRPr lang="cs-CZ" dirty="0"/>
          </a:p>
          <a:p>
            <a:pPr lvl="1"/>
            <a:r>
              <a:rPr lang="cs-CZ" dirty="0"/>
              <a:t>Data jsou uložena v grafové struktuře</a:t>
            </a:r>
          </a:p>
          <a:p>
            <a:r>
              <a:rPr lang="cs-CZ" dirty="0"/>
              <a:t>Grafové modely</a:t>
            </a:r>
          </a:p>
          <a:p>
            <a:pPr lvl="1"/>
            <a:r>
              <a:rPr lang="cs-CZ" dirty="0"/>
              <a:t>Graf s vlastnostmi</a:t>
            </a:r>
          </a:p>
          <a:p>
            <a:pPr lvl="1"/>
            <a:r>
              <a:rPr lang="cs-CZ" dirty="0"/>
              <a:t>RDF</a:t>
            </a:r>
          </a:p>
          <a:p>
            <a:pPr lvl="1"/>
            <a:r>
              <a:rPr lang="cs-CZ" dirty="0" err="1"/>
              <a:t>Hypergrafy</a:t>
            </a:r>
            <a:endParaRPr lang="cs-CZ" dirty="0"/>
          </a:p>
          <a:p>
            <a:r>
              <a:rPr lang="cs-CZ" dirty="0"/>
              <a:t>Systémy OLTP a OLAP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750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B78A1-B8A1-96B5-D1C3-E4FA8FD6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FCFD76-3DE5-20C9-CF9D-70186D70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Výhody grafové databáze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E7797FF-93DC-2EE1-0CFC-0E78ACE36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Vztahy mezi entitami uloženy přímo v databázi</a:t>
            </a:r>
          </a:p>
          <a:p>
            <a:pPr lvl="1"/>
            <a:r>
              <a:rPr lang="cs-CZ" dirty="0"/>
              <a:t>Čas pro vyhodnocení dotazu závisí pouze na velikosti procházeného podgrafu</a:t>
            </a:r>
          </a:p>
          <a:p>
            <a:r>
              <a:rPr lang="cs-CZ" dirty="0"/>
              <a:t>Grafová struktura popisuje jak nad daty přemýšlíme</a:t>
            </a:r>
          </a:p>
          <a:p>
            <a:r>
              <a:rPr lang="cs-CZ" dirty="0" err="1"/>
              <a:t>Schema-less</a:t>
            </a:r>
            <a:r>
              <a:rPr lang="cs-CZ" dirty="0"/>
              <a:t> – nevynucují definování schématu</a:t>
            </a:r>
          </a:p>
          <a:p>
            <a:r>
              <a:rPr lang="cs-CZ" dirty="0"/>
              <a:t>Mnoho implementací nabízí horizontální škálování</a:t>
            </a:r>
          </a:p>
          <a:p>
            <a:pPr lvl="1"/>
            <a:r>
              <a:rPr lang="cs-CZ" dirty="0"/>
              <a:t>Data jsou rozdělena mezi více strojů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08EF3CE-83B0-6D25-41A5-ADE95FE20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03701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41703-0951-9D2B-8254-A4F396BE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8D58F4-0933-002F-32C9-0036CEE8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Nevýhody grafové databáze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E57736C-3062-0A22-3604-11F9A5B8C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Neexistuje jeden standardní dotazovací jazyk</a:t>
            </a:r>
          </a:p>
          <a:p>
            <a:r>
              <a:rPr lang="cs-CZ" dirty="0"/>
              <a:t>Problémem jsou operace agregování a filtrování</a:t>
            </a:r>
          </a:p>
          <a:p>
            <a:r>
              <a:rPr lang="cs-CZ" dirty="0"/>
              <a:t>Problematické </a:t>
            </a:r>
            <a:r>
              <a:rPr lang="cs-CZ" dirty="0" err="1"/>
              <a:t>shardování</a:t>
            </a:r>
            <a:endParaRPr lang="cs-CZ" dirty="0"/>
          </a:p>
          <a:p>
            <a:pPr lvl="1"/>
            <a:r>
              <a:rPr lang="cs-CZ" dirty="0"/>
              <a:t>Jak data rozdělit mezi více strojů?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FB464FA-6BA1-4E45-C048-B6C40771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4756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A7B20-CF5E-4E1E-54FE-CF769BA4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92EE3C-2D4F-D5AB-89EB-2669798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Implementace grafových databází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20D6CB2-D8B7-7F3B-16EC-FF71354C7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Existuje spousta implementací</a:t>
            </a:r>
          </a:p>
          <a:p>
            <a:pPr lvl="1"/>
            <a:r>
              <a:rPr lang="cs-CZ" dirty="0"/>
              <a:t>Liší se </a:t>
            </a:r>
            <a:r>
              <a:rPr lang="cs-CZ" dirty="0" err="1"/>
              <a:t>nativností</a:t>
            </a:r>
            <a:r>
              <a:rPr lang="cs-CZ" dirty="0"/>
              <a:t>, podporou ACID transakcí, škálovatelností…</a:t>
            </a:r>
          </a:p>
          <a:p>
            <a:r>
              <a:rPr lang="cs-CZ" dirty="0"/>
              <a:t>Vybrané implementace</a:t>
            </a:r>
          </a:p>
          <a:p>
            <a:pPr lvl="1"/>
            <a:r>
              <a:rPr lang="cs-CZ" dirty="0"/>
              <a:t>Neo4j</a:t>
            </a:r>
          </a:p>
          <a:p>
            <a:pPr lvl="1"/>
            <a:r>
              <a:rPr lang="cs-CZ" dirty="0" err="1"/>
              <a:t>OrientDB</a:t>
            </a:r>
            <a:endParaRPr lang="cs-CZ" dirty="0"/>
          </a:p>
          <a:p>
            <a:pPr lvl="1"/>
            <a:r>
              <a:rPr lang="cs-CZ" dirty="0" err="1"/>
              <a:t>ArangoDB</a:t>
            </a:r>
            <a:endParaRPr lang="cs-CZ" dirty="0"/>
          </a:p>
          <a:p>
            <a:r>
              <a:rPr lang="cs-CZ" dirty="0"/>
              <a:t>Další známé implementace</a:t>
            </a:r>
          </a:p>
          <a:p>
            <a:pPr lvl="1"/>
            <a:r>
              <a:rPr lang="cs-CZ" dirty="0"/>
              <a:t>Amazon Neptune</a:t>
            </a:r>
          </a:p>
          <a:p>
            <a:pPr lvl="1"/>
            <a:r>
              <a:rPr lang="cs-CZ" dirty="0" err="1"/>
              <a:t>Tiger</a:t>
            </a:r>
            <a:r>
              <a:rPr lang="cs-CZ" dirty="0"/>
              <a:t> </a:t>
            </a:r>
            <a:r>
              <a:rPr lang="cs-CZ" dirty="0" err="1"/>
              <a:t>Graph</a:t>
            </a:r>
            <a:endParaRPr lang="cs-CZ" dirty="0"/>
          </a:p>
          <a:p>
            <a:pPr lvl="1"/>
            <a:r>
              <a:rPr lang="cs-CZ" dirty="0" err="1"/>
              <a:t>AllegroGraph</a:t>
            </a:r>
            <a:endParaRPr lang="cs-CZ" dirty="0"/>
          </a:p>
          <a:p>
            <a:pPr lvl="1"/>
            <a:r>
              <a:rPr lang="cs-CZ" dirty="0" err="1"/>
              <a:t>FlockDB</a:t>
            </a:r>
            <a:endParaRPr lang="cs-CZ" dirty="0"/>
          </a:p>
          <a:p>
            <a:pPr lvl="1"/>
            <a:r>
              <a:rPr lang="cs-CZ" dirty="0" err="1"/>
              <a:t>JanusGraph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973CCC3-D299-B93A-1530-385121D1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561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85DBC-19C1-8372-D822-0C28E843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12CADF-1BA6-4E32-3B10-040C79BD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Dotazovací jazyky v grafových databázích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8100217-CB20-3970-F373-E1E439341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Definují </a:t>
            </a:r>
            <a:r>
              <a:rPr lang="cs-CZ" i="1" dirty="0"/>
              <a:t>grafové vzory</a:t>
            </a:r>
          </a:p>
          <a:p>
            <a:pPr lvl="1"/>
            <a:r>
              <a:rPr lang="cs-CZ" dirty="0"/>
              <a:t>Ty popisují, jakým způsobem grafem procházíme</a:t>
            </a:r>
          </a:p>
          <a:p>
            <a:r>
              <a:rPr lang="cs-CZ" dirty="0"/>
              <a:t>Používané dotazovací jazyky</a:t>
            </a:r>
          </a:p>
          <a:p>
            <a:pPr lvl="1"/>
            <a:r>
              <a:rPr lang="cs-CZ" dirty="0" err="1"/>
              <a:t>Cypher</a:t>
            </a:r>
            <a:endParaRPr lang="cs-CZ" dirty="0"/>
          </a:p>
          <a:p>
            <a:pPr lvl="1"/>
            <a:r>
              <a:rPr lang="cs-CZ" dirty="0" err="1"/>
              <a:t>Gremlin</a:t>
            </a:r>
            <a:endParaRPr lang="cs-CZ" dirty="0"/>
          </a:p>
          <a:p>
            <a:pPr lvl="1"/>
            <a:r>
              <a:rPr lang="cs-CZ" dirty="0"/>
              <a:t>AQL (</a:t>
            </a:r>
            <a:r>
              <a:rPr lang="cs-CZ" dirty="0" err="1"/>
              <a:t>ArangoDB</a:t>
            </a:r>
            <a:r>
              <a:rPr lang="cs-CZ" dirty="0"/>
              <a:t> </a:t>
            </a:r>
            <a:r>
              <a:rPr lang="cs-CZ" dirty="0" err="1"/>
              <a:t>Query</a:t>
            </a:r>
            <a:r>
              <a:rPr lang="cs-CZ" dirty="0"/>
              <a:t> </a:t>
            </a:r>
            <a:r>
              <a:rPr lang="cs-CZ" dirty="0" err="1"/>
              <a:t>Language</a:t>
            </a:r>
            <a:r>
              <a:rPr lang="cs-CZ" dirty="0"/>
              <a:t>)</a:t>
            </a:r>
          </a:p>
          <a:p>
            <a:r>
              <a:rPr lang="cs-CZ" dirty="0"/>
              <a:t>Další známé dotazovací jazyky</a:t>
            </a:r>
          </a:p>
          <a:p>
            <a:pPr lvl="1"/>
            <a:r>
              <a:rPr lang="cs-CZ" dirty="0"/>
              <a:t>SPARQL</a:t>
            </a:r>
          </a:p>
          <a:p>
            <a:pPr lvl="1"/>
            <a:r>
              <a:rPr lang="cs-CZ" dirty="0"/>
              <a:t>PGQL</a:t>
            </a:r>
          </a:p>
          <a:p>
            <a:pPr lvl="1"/>
            <a:r>
              <a:rPr lang="cs-CZ" dirty="0" err="1"/>
              <a:t>GraphQL</a:t>
            </a:r>
            <a:endParaRPr lang="cs-CZ" dirty="0"/>
          </a:p>
          <a:p>
            <a:pPr lvl="1"/>
            <a:r>
              <a:rPr lang="cs-CZ" dirty="0"/>
              <a:t>GSQL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F92A559-102B-FAA1-E7BC-09894CFA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479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FCC1F-F127-CD7B-0426-5A5E6E66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49CD5F-A91D-7EF3-F97D-A7236A1B6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Modelování grafových dat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3F1C213-27E9-5E03-767B-A2746B4C5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Entity a vztahy z reálného světa překládány do grafové reprezentace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6C19204-FE75-A1B8-256B-1388FC32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Jan Gaja, 21.3.2024, Katedra informatiky, Přírodovědecká fakulta, </a:t>
            </a:r>
            <a:r>
              <a:rPr lang="en-GB" dirty="0" err="1"/>
              <a:t>Univerzita</a:t>
            </a:r>
            <a:r>
              <a:rPr lang="en-GB" dirty="0"/>
              <a:t> </a:t>
            </a:r>
            <a:r>
              <a:rPr lang="en-GB" dirty="0" err="1"/>
              <a:t>Palackého</a:t>
            </a:r>
            <a:r>
              <a:rPr lang="en-GB" dirty="0"/>
              <a:t> v </a:t>
            </a:r>
            <a:r>
              <a:rPr lang="en-GB" dirty="0" err="1"/>
              <a:t>Olomouci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0777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21AD6-1B99-6A32-110C-B829FFF5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7EFE1E-430B-D289-8B55-72FE25CB7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Grafové databáze – přehled a srovnání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F5AA5C9-A765-BAEF-8283-7EE9667030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Prezentace k obhajobě bakalářské práce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3A29A68-FAAE-7437-F5DC-191E3C3A4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/>
              <a:t>Jan Gaja, 21.3.2024, Katedra informatiky, Přírodovědecká fakulta, Univerzita Palackého v Olomouci</a:t>
            </a:r>
          </a:p>
        </p:txBody>
      </p:sp>
    </p:spTree>
    <p:extLst>
      <p:ext uri="{BB962C8B-B14F-4D97-AF65-F5344CB8AC3E}">
        <p14:creationId xmlns:p14="http://schemas.microsoft.com/office/powerpoint/2010/main" val="96054319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U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BAB"/>
      </a:accent1>
      <a:accent2>
        <a:srgbClr val="6C6D70"/>
      </a:accent2>
      <a:accent3>
        <a:srgbClr val="A5A5A5"/>
      </a:accent3>
      <a:accent4>
        <a:srgbClr val="ED7D31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_Prezentace_2.potx" id="{755D0361-9207-4673-B4A5-8DE80FB40899}" vid="{B1A348AD-3F36-40BB-80C1-28390A7D89FC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UP_prezentace_cz_4x3</Template>
  <TotalTime>47</TotalTime>
  <Words>326</Words>
  <Application>Microsoft Office PowerPoint</Application>
  <PresentationFormat>Custom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Motiv Office</vt:lpstr>
      <vt:lpstr>Grafové databáze – přehled a srovnání</vt:lpstr>
      <vt:lpstr>Grafové databáze</vt:lpstr>
      <vt:lpstr>Výhody grafové databáze</vt:lpstr>
      <vt:lpstr>Nevýhody grafové databáze</vt:lpstr>
      <vt:lpstr>Implementace grafových databází</vt:lpstr>
      <vt:lpstr>Dotazovací jazyky v grafových databázích</vt:lpstr>
      <vt:lpstr>Modelování grafových dat</vt:lpstr>
      <vt:lpstr>Grafové databáze – přehled a srovnání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Grafové databáze – přehled a srovnání</dc:title>
  <dc:creator>Jan Gaja</dc:creator>
  <cp:lastModifiedBy>Jan Gaja</cp:lastModifiedBy>
  <cp:revision>1</cp:revision>
  <dcterms:created xsi:type="dcterms:W3CDTF">2024-03-05T12:56:13Z</dcterms:created>
  <dcterms:modified xsi:type="dcterms:W3CDTF">2024-03-05T13:43:25Z</dcterms:modified>
</cp:coreProperties>
</file>